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Deschid prezentarea prin ideea centrală: proiectul urmărește să reducă distanța dintre o întrebare de business și datele necesare unei decizii. Nu este doar o demonstrație de generare SQL, ci și o evaluare controlată a modului în care această generare ar trebui realizată.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Punctul de plecare este unul organizațional. Managerii și personalul de decizie au întrebări recurente despre vânzări, costuri, clienți sau operațiuni, însă datele sunt accesibile prin SQL. Pentru fiecare răspuns trebuie solicitat ajutorul unui analist, ceea ce introduce un timp de așteptare și întrerupe activitatea ambelor persoane.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Scopul este democratizarea accesului la date pentru întrebările de zi cu zi, nu eliminarea rolului analistului. Sistemul preia întrebarea, găsește informațiile relevante, generează o interogare sigură și livrează un rezultat ușor de interpretat. Analistul rămâne necesar pentru analize complexe, modelare și guvernanță.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Aceasta este interfața sistemului. Utilizatorul discută cu aplicația, iar rezultatul poate fi deschis ca artefact: grafic, tabel și raport. În spate, răspunsul este legat de SQL-ul executat, astfel încât să poată fi verificat și refolosit.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Conducta proprie selectează tabelele relevante prin căutare lexicală, embeddings și potrivirea valorilor din întrebare. Modelul generează SQL, iar validatorul blochează operațiile de modificare sau accesul nepermis. Execuția are loc cu un utilizator read-only și limite explicite.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Până în acest punct am descris o arhitectură care funcționează. Nu am arătat însă că este arhitectura potrivită. Partea a doua a lucrării tratează fiecare decizie ca pe o ipoteză de verificat: modul de generare a SQL-ului, costul fiecărei variante, datele pe care măsurarea rămâne credibilă și comportamentul în fața întrebărilor ambigue.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comparat trei configurații. A primește schema completă și răspunde o singură dată. B nu primește schema, ci explorează baza prin unelte MCP. C este identică procedural cu A, dar rulează un model local. Această separare face rezultatele interpretabile.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Două interogări diferite textual pot fi ambele corecte. De aceea, interogarea prezisă și cea de referință sunt executate, apoi sunt comparate seturile de rezultate. Cadrul păstrează separat erorile modelului și erorile de referință și verifică amprenta setului de întrebări.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Cele trei seturi nu sunt comparabile ca dificultate, iar diferența nu vine din volum. Primele două conțin întrebări pe care le-am formulat eu, peste scheme pe care le cunoșteam bine: dificultatea este sintactică, adică SQL complex, serii de zile consecutive sau medii ponderate. Pe acestea modelele bune ajung la sută la sută. BIRD schimbă natura dificultății: întrebarea este formulată de altcineva, uneori agramatical, coloanele au nume opace precum A11, iar semantica lor este livrată într-un dicționar ținut separat de schemă. Eșecurile nu sunt de construcție a interogării, ci de ancorare în date. Numărul mare de întrebări nu coboară scorul, ci restabilește puterea de discriminare: pe patruzeci și patru de întrebări, trei modele erau egale la sută la sută.</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Rezultatul central este contraintuitiv. Trei modele cu apel unic ating 100%. Cel mai bun agent obține 95,5%, iar cel mai bun model local 93,2%. Accesul la unelte este fezabil, dar nu a depășit reperul simplu cu schema în 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Diferența de cost este mai mare decât diferența de acuratețe. Configurațiile agentice măsurate sunt între 9 și 63 de ori mai scumpe pentru o sută de întrebări. Cauza este bucla agentului: fiecare apel retrimite contextul acumulat.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Modelul local Qwen 35B MoE obține 93,2%, egal cu cel mai bun agent Claude din măsurători. Rulează pe o placă de consum cu 12 GiB. Experimentele arată și că densitatea este mai importantă decât dimensiunea fișierului: un model rar poate fi mai mare pe disc, dar mai rapid la inferență.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 întrebările SQL bine precizate, modelele de vârf sunt aproape de plafon. Diferența apare când întrebarea pare validă, dar are mai multe interpretări. Toate modelele cu apel unic au ales o interpretare fără să întrebe. Agenții, având un proces deliberativ, au solicitat clarificări mai 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Pentru a evita concluziile dependente de întrebările formulate în proiect, am evaluat modelele și pe întregul BIRD-SQL dev. Aici scorurile scad puternic și setul rămâne discriminatoriu. Validarea externă confirmă că un rezultat perfect pe o bază curată nu înseamnă că problema text-to-SQL este rezolvată în general.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În concluzie, proiectul demonstrează atât utilitatea practică a unei interfețe în limbaj natural, cât și necesitatea unei evaluări riguroase. Configurația agentică este fezabilă, însă nu este automat superioară. Modelele locale sunt deja competitive. Direcția cea mai valoroasă este interacțiunea: sistemul trebuie să poată clarifica intenția înainte de a produce un răspuns convingător, dar greșit.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Rectangle 1"/>
          <p:cNvSpPr/>
          <p:nvPr/>
        </p:nvSpPr>
        <p:spPr>
          <a:xfrm>
            <a:off x="7589520" y="0"/>
            <a:ext cx="4599432" cy="6858000"/>
          </a:xfrm>
          <a:prstGeom prst="rect">
            <a:avLst/>
          </a:prstGeom>
          <a:solidFill>
            <a:srgbClr val="173F5F"/>
          </a:solidFill>
          <a:ln w="12700">
            <a:solidFill>
              <a:srgbClr val="173F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58200" y="1051560"/>
            <a:ext cx="566928" cy="566928"/>
          </a:xfrm>
          <a:prstGeom prst="ellipse">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351008" y="932688"/>
            <a:ext cx="384048" cy="384048"/>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82912" y="2331720"/>
            <a:ext cx="475488" cy="475488"/>
          </a:xfrm>
          <a:prstGeom prst="ellipse">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0" y="2788920"/>
            <a:ext cx="310896" cy="310896"/>
          </a:xfrm>
          <a:prstGeom prst="ellipse">
            <a:avLst/>
          </a:prstGeom>
          <a:solidFill>
            <a:srgbClr val="E1A83B"/>
          </a:solidFill>
          <a:ln w="12700">
            <a:solidFill>
              <a:srgbClr val="E1A8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75320" y="3867912"/>
            <a:ext cx="384048" cy="384048"/>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95560" y="4572000"/>
            <a:ext cx="566928" cy="566928"/>
          </a:xfrm>
          <a:prstGeom prst="ellipse">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09960" y="5486400"/>
            <a:ext cx="384048" cy="384048"/>
          </a:xfrm>
          <a:prstGeom prst="ellipse">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9006840" y="1124712"/>
            <a:ext cx="1344168" cy="201168"/>
          </a:xfrm>
          <a:prstGeom prst="line">
            <a:avLst/>
          </a:prstGeom>
          <a:ln w="19050">
            <a:solidFill>
              <a:srgbClr val="6D8AA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69680" y="1527048"/>
            <a:ext cx="713232" cy="804672"/>
          </a:xfrm>
          <a:prstGeom prst="line">
            <a:avLst/>
          </a:prstGeom>
          <a:ln w="19050">
            <a:solidFill>
              <a:srgbClr val="6D8AA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058400" y="2560320"/>
            <a:ext cx="914400" cy="365760"/>
          </a:xfrm>
          <a:prstGeom prst="line">
            <a:avLst/>
          </a:prstGeom>
          <a:ln w="19050">
            <a:solidFill>
              <a:srgbClr val="6D8A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8641080" y="2743200"/>
            <a:ext cx="960120" cy="1124712"/>
          </a:xfrm>
          <a:prstGeom prst="line">
            <a:avLst/>
          </a:prstGeom>
          <a:ln w="19050">
            <a:solidFill>
              <a:srgbClr val="6D8A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59368" y="4069080"/>
            <a:ext cx="1536192" cy="685800"/>
          </a:xfrm>
          <a:prstGeom prst="line">
            <a:avLst/>
          </a:prstGeom>
          <a:ln w="19050">
            <a:solidFill>
              <a:srgbClr val="6D8AA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744200" y="5074920"/>
            <a:ext cx="365760" cy="576072"/>
          </a:xfrm>
          <a:prstGeom prst="line">
            <a:avLst/>
          </a:prstGeom>
          <a:ln w="19050">
            <a:solidFill>
              <a:srgbClr val="6D8AA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58368" y="566928"/>
            <a:ext cx="1508760" cy="310896"/>
          </a:xfrm>
          <a:prstGeom prst="roundRect">
            <a:avLst>
              <a:gd name="adj" fmla="val 50000"/>
            </a:avLst>
          </a:prstGeom>
          <a:solidFill>
            <a:srgbClr val="274A66"/>
          </a:solidFill>
          <a:ln w="12700">
            <a:solidFill>
              <a:srgbClr val="274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072"/>
            <a:ext cx="1508760" cy="256032"/>
          </a:xfrm>
          <a:prstGeom prst="rect">
            <a:avLst/>
          </a:prstGeom>
          <a:noFill/>
        </p:spPr>
        <p:txBody>
          <a:bodyPr wrap="square" lIns="27432" rIns="27432" tIns="27432" bIns="27432" anchor="ctr">
            <a:spAutoFit/>
          </a:bodyPr>
          <a:lstStyle/>
          <a:p>
            <a:pPr algn="ctr"/>
            <a:r>
              <a:rPr sz="1000" b="1" i="0">
                <a:solidFill>
                  <a:srgbClr val="A9D5F5"/>
                </a:solidFill>
                <a:latin typeface="Aptos"/>
              </a:rPr>
              <a:t>PROIECT DE DIPLOMĂ</a:t>
            </a:r>
          </a:p>
        </p:txBody>
      </p:sp>
      <p:sp>
        <p:nvSpPr>
          <p:cNvPr id="18" name="TextBox 17"/>
          <p:cNvSpPr txBox="1"/>
          <p:nvPr/>
        </p:nvSpPr>
        <p:spPr>
          <a:xfrm>
            <a:off x="658368" y="1298448"/>
            <a:ext cx="6537960" cy="2514600"/>
          </a:xfrm>
          <a:prstGeom prst="rect">
            <a:avLst/>
          </a:prstGeom>
          <a:noFill/>
        </p:spPr>
        <p:txBody>
          <a:bodyPr wrap="square" lIns="27432" rIns="27432" tIns="27432" bIns="27432" anchor="t">
            <a:spAutoFit/>
          </a:bodyPr>
          <a:lstStyle/>
          <a:p>
            <a:pPr algn="l"/>
            <a:r>
              <a:rPr sz="3600" b="1" i="0">
                <a:solidFill>
                  <a:srgbClr val="FFFFFF"/>
                </a:solidFill>
                <a:latin typeface="Aptos"/>
              </a:rPr>
              <a:t>Sistem de interogare
a bazelor de date
prin limbaj natural</a:t>
            </a:r>
          </a:p>
        </p:txBody>
      </p:sp>
      <p:sp>
        <p:nvSpPr>
          <p:cNvPr id="19" name="TextBox 18"/>
          <p:cNvSpPr txBox="1"/>
          <p:nvPr/>
        </p:nvSpPr>
        <p:spPr>
          <a:xfrm>
            <a:off x="685800" y="4069080"/>
            <a:ext cx="5943600" cy="384048"/>
          </a:xfrm>
          <a:prstGeom prst="rect">
            <a:avLst/>
          </a:prstGeom>
          <a:noFill/>
        </p:spPr>
        <p:txBody>
          <a:bodyPr wrap="square" lIns="27432" rIns="27432" tIns="27432" bIns="27432" anchor="t">
            <a:spAutoFit/>
          </a:bodyPr>
          <a:lstStyle/>
          <a:p>
            <a:pPr algn="l"/>
            <a:r>
              <a:rPr sz="1900" b="0" i="0">
                <a:solidFill>
                  <a:srgbClr val="C8D7E4"/>
                </a:solidFill>
                <a:latin typeface="Aptos"/>
              </a:rPr>
              <a:t>Proiectare și evaluare experimentală</a:t>
            </a:r>
          </a:p>
        </p:txBody>
      </p:sp>
      <p:sp>
        <p:nvSpPr>
          <p:cNvPr id="20" name="TextBox 19"/>
          <p:cNvSpPr txBox="1"/>
          <p:nvPr/>
        </p:nvSpPr>
        <p:spPr>
          <a:xfrm>
            <a:off x="685800" y="5760720"/>
            <a:ext cx="3474720" cy="292608"/>
          </a:xfrm>
          <a:prstGeom prst="rect">
            <a:avLst/>
          </a:prstGeom>
          <a:noFill/>
        </p:spPr>
        <p:txBody>
          <a:bodyPr wrap="square" lIns="27432" rIns="27432" tIns="27432" bIns="27432" anchor="t">
            <a:spAutoFit/>
          </a:bodyPr>
          <a:lstStyle/>
          <a:p>
            <a:pPr algn="l"/>
            <a:r>
              <a:rPr sz="1500" b="1" i="0">
                <a:solidFill>
                  <a:srgbClr val="FFFFFF"/>
                </a:solidFill>
                <a:latin typeface="Aptos"/>
              </a:rPr>
              <a:t>Dodita Alexandru-Tomi</a:t>
            </a:r>
          </a:p>
        </p:txBody>
      </p:sp>
      <p:sp>
        <p:nvSpPr>
          <p:cNvPr id="21" name="TextBox 20"/>
          <p:cNvSpPr txBox="1"/>
          <p:nvPr/>
        </p:nvSpPr>
        <p:spPr>
          <a:xfrm>
            <a:off x="685800" y="6144768"/>
            <a:ext cx="5943600" cy="256032"/>
          </a:xfrm>
          <a:prstGeom prst="rect">
            <a:avLst/>
          </a:prstGeom>
          <a:noFill/>
        </p:spPr>
        <p:txBody>
          <a:bodyPr wrap="square" lIns="27432" rIns="27432" tIns="27432" bIns="27432" anchor="t">
            <a:spAutoFit/>
          </a:bodyPr>
          <a:lstStyle/>
          <a:p>
            <a:pPr algn="l"/>
            <a:r>
              <a:rPr sz="1150" b="0" i="0">
                <a:solidFill>
                  <a:srgbClr val="A8B6C4"/>
                </a:solidFill>
                <a:latin typeface="Aptos"/>
              </a:rPr>
              <a:t>Coordonator: Prof. univ. dr. ing. Simona Caraiman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CONTEXT</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De unde am pornit</a:t>
            </a:r>
          </a:p>
        </p:txBody>
      </p:sp>
      <p:sp>
        <p:nvSpPr>
          <p:cNvPr id="4" name="TextBox 3"/>
          <p:cNvSpPr txBox="1"/>
          <p:nvPr/>
        </p:nvSpPr>
        <p:spPr>
          <a:xfrm>
            <a:off x="658368" y="1325880"/>
            <a:ext cx="6035040" cy="658368"/>
          </a:xfrm>
          <a:prstGeom prst="rect">
            <a:avLst/>
          </a:prstGeom>
          <a:noFill/>
        </p:spPr>
        <p:txBody>
          <a:bodyPr wrap="square" lIns="27432" rIns="27432" tIns="27432" bIns="27432" anchor="t">
            <a:spAutoFit/>
          </a:bodyPr>
          <a:lstStyle/>
          <a:p>
            <a:pPr algn="l"/>
            <a:r>
              <a:rPr sz="2600" b="1" i="0">
                <a:solidFill>
                  <a:srgbClr val="102A43"/>
                </a:solidFill>
                <a:latin typeface="Aptos"/>
              </a:rPr>
              <a:t>Managementul are nevoie zilnic de răspunsuri din date.</a:t>
            </a:r>
          </a:p>
        </p:txBody>
      </p:sp>
      <p:sp>
        <p:nvSpPr>
          <p:cNvPr id="5" name="Rounded Rectangle 4"/>
          <p:cNvSpPr/>
          <p:nvPr/>
        </p:nvSpPr>
        <p:spPr>
          <a:xfrm>
            <a:off x="731520" y="2304288"/>
            <a:ext cx="1938528" cy="310896"/>
          </a:xfrm>
          <a:prstGeom prst="roundRect">
            <a:avLst>
              <a:gd name="adj" fmla="val 50000"/>
            </a:avLst>
          </a:prstGeom>
          <a:solidFill>
            <a:srgbClr val="E8F2FA"/>
          </a:solidFill>
          <a:ln w="12700">
            <a:solidFill>
              <a:srgbClr val="E8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13432"/>
            <a:ext cx="1938528" cy="256032"/>
          </a:xfrm>
          <a:prstGeom prst="rect">
            <a:avLst/>
          </a:prstGeom>
          <a:noFill/>
        </p:spPr>
        <p:txBody>
          <a:bodyPr wrap="square" lIns="27432" rIns="27432" tIns="27432" bIns="27432" anchor="ctr">
            <a:spAutoFit/>
          </a:bodyPr>
          <a:lstStyle/>
          <a:p>
            <a:pPr algn="ctr"/>
            <a:r>
              <a:rPr sz="1000" b="1" i="0">
                <a:solidFill>
                  <a:srgbClr val="1F6FB4"/>
                </a:solidFill>
                <a:latin typeface="Aptos"/>
              </a:rPr>
              <a:t>ÎNTREBARE DE BUSINESS</a:t>
            </a:r>
          </a:p>
        </p:txBody>
      </p:sp>
      <p:sp>
        <p:nvSpPr>
          <p:cNvPr id="7" name="Rounded Rectangle 6"/>
          <p:cNvSpPr/>
          <p:nvPr/>
        </p:nvSpPr>
        <p:spPr>
          <a:xfrm>
            <a:off x="731520" y="2788920"/>
            <a:ext cx="2852928" cy="1060704"/>
          </a:xfrm>
          <a:prstGeom prst="roundRect">
            <a:avLst>
              <a:gd name="adj" fmla="val 12068"/>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017520"/>
            <a:ext cx="2395728" cy="603504"/>
          </a:xfrm>
          <a:prstGeom prst="rect">
            <a:avLst/>
          </a:prstGeom>
          <a:noFill/>
        </p:spPr>
        <p:txBody>
          <a:bodyPr wrap="square" lIns="27432" rIns="27432" tIns="27432" bIns="27432" anchor="t">
            <a:spAutoFit/>
          </a:bodyPr>
          <a:lstStyle/>
          <a:p>
            <a:pPr algn="ctr"/>
            <a:r>
              <a:rPr sz="1600" b="1" i="1">
                <a:solidFill>
                  <a:srgbClr val="17212B"/>
                </a:solidFill>
                <a:latin typeface="Aptos"/>
              </a:rPr>
              <a:t>„Cum au evoluat veniturile
în ultimele șase luni?”</a:t>
            </a:r>
          </a:p>
        </p:txBody>
      </p:sp>
      <p:sp>
        <p:nvSpPr>
          <p:cNvPr id="9" name="Right Arrow 8"/>
          <p:cNvSpPr/>
          <p:nvPr/>
        </p:nvSpPr>
        <p:spPr>
          <a:xfrm>
            <a:off x="3840480" y="3163824"/>
            <a:ext cx="932688" cy="292608"/>
          </a:xfrm>
          <a:prstGeom prst="rightArrow">
            <a:avLst/>
          </a:prstGeom>
          <a:solidFill>
            <a:srgbClr val="64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377440"/>
            <a:ext cx="2423160" cy="1883664"/>
          </a:xfrm>
          <a:prstGeom prst="roundRect">
            <a:avLst>
              <a:gd name="adj" fmla="val 679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83480" y="2505456"/>
            <a:ext cx="73152" cy="1627632"/>
          </a:xfrm>
          <a:prstGeom prst="rect">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39512" y="2633472"/>
            <a:ext cx="502920" cy="502920"/>
          </a:xfrm>
          <a:prstGeom prst="ellipse">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9512" y="2633472"/>
            <a:ext cx="502920" cy="502920"/>
          </a:xfrm>
          <a:prstGeom prst="rect">
            <a:avLst/>
          </a:prstGeom>
          <a:noFill/>
        </p:spPr>
        <p:txBody>
          <a:bodyPr wrap="square" lIns="27432" rIns="27432" tIns="27432" bIns="27432" anchor="ctr">
            <a:spAutoFit/>
          </a:bodyPr>
          <a:lstStyle/>
          <a:p>
            <a:pPr algn="ctr"/>
            <a:r>
              <a:rPr sz="1800" b="1" i="0">
                <a:solidFill>
                  <a:srgbClr val="FFFFFF"/>
                </a:solidFill>
                <a:latin typeface="Aptos"/>
              </a:rPr>
              <a:t>SQL</a:t>
            </a:r>
          </a:p>
        </p:txBody>
      </p:sp>
      <p:sp>
        <p:nvSpPr>
          <p:cNvPr id="14" name="TextBox 13"/>
          <p:cNvSpPr txBox="1"/>
          <p:nvPr/>
        </p:nvSpPr>
        <p:spPr>
          <a:xfrm>
            <a:off x="5824728" y="2578608"/>
            <a:ext cx="1435608" cy="548640"/>
          </a:xfrm>
          <a:prstGeom prst="rect">
            <a:avLst/>
          </a:prstGeom>
          <a:noFill/>
        </p:spPr>
        <p:txBody>
          <a:bodyPr wrap="square" lIns="27432" rIns="27432" tIns="27432" bIns="27432" anchor="t">
            <a:spAutoFit/>
          </a:bodyPr>
          <a:lstStyle/>
          <a:p>
            <a:pPr algn="l"/>
            <a:r>
              <a:rPr sz="1650" b="1" i="0">
                <a:solidFill>
                  <a:srgbClr val="102A43"/>
                </a:solidFill>
                <a:latin typeface="Aptos"/>
              </a:rPr>
              <a:t>Intermediar tehnic</a:t>
            </a:r>
          </a:p>
        </p:txBody>
      </p:sp>
      <p:sp>
        <p:nvSpPr>
          <p:cNvPr id="15" name="TextBox 14"/>
          <p:cNvSpPr txBox="1"/>
          <p:nvPr/>
        </p:nvSpPr>
        <p:spPr>
          <a:xfrm>
            <a:off x="5303520" y="3182112"/>
            <a:ext cx="1828800" cy="923544"/>
          </a:xfrm>
          <a:prstGeom prst="rect">
            <a:avLst/>
          </a:prstGeom>
          <a:noFill/>
        </p:spPr>
        <p:txBody>
          <a:bodyPr wrap="square" lIns="27432" rIns="27432" tIns="27432" bIns="27432" anchor="t">
            <a:spAutoFit/>
          </a:bodyPr>
          <a:lstStyle/>
          <a:p>
            <a:pPr algn="l"/>
            <a:r>
              <a:rPr sz="1250" b="0" i="0">
                <a:solidFill>
                  <a:srgbClr val="647487"/>
                </a:solidFill>
                <a:latin typeface="Aptos"/>
              </a:rPr>
              <a:t>Analistul traduce întrebarea în SQL, verifică rezultatul și pregătește raportul.</a:t>
            </a:r>
          </a:p>
        </p:txBody>
      </p:sp>
      <p:sp>
        <p:nvSpPr>
          <p:cNvPr id="16" name="Right Arrow 15"/>
          <p:cNvSpPr/>
          <p:nvPr/>
        </p:nvSpPr>
        <p:spPr>
          <a:xfrm>
            <a:off x="7644383" y="3163824"/>
            <a:ext cx="932688" cy="292608"/>
          </a:xfrm>
          <a:prstGeom prst="rightArrow">
            <a:avLst/>
          </a:prstGeom>
          <a:solidFill>
            <a:srgbClr val="64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796528" y="2377440"/>
            <a:ext cx="2450592" cy="1883664"/>
          </a:xfrm>
          <a:prstGeom prst="roundRect">
            <a:avLst>
              <a:gd name="adj" fmla="val 679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96528" y="2505456"/>
            <a:ext cx="73152" cy="1627632"/>
          </a:xfrm>
          <a:prstGeom prst="rect">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52559" y="2633472"/>
            <a:ext cx="502920" cy="502920"/>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59" y="2633472"/>
            <a:ext cx="502920" cy="502920"/>
          </a:xfrm>
          <a:prstGeom prst="rect">
            <a:avLst/>
          </a:prstGeom>
          <a:noFill/>
        </p:spPr>
        <p:txBody>
          <a:bodyPr wrap="square" lIns="27432" rIns="27432" tIns="27432" bIns="27432" anchor="ctr">
            <a:spAutoFit/>
          </a:bodyPr>
          <a:lstStyle/>
          <a:p>
            <a:pPr algn="ctr"/>
            <a:r>
              <a:rPr sz="1800" b="1" i="0">
                <a:solidFill>
                  <a:srgbClr val="FFFFFF"/>
                </a:solidFill>
                <a:latin typeface="Aptos"/>
              </a:rPr>
              <a:t>✓</a:t>
            </a:r>
          </a:p>
        </p:txBody>
      </p:sp>
      <p:sp>
        <p:nvSpPr>
          <p:cNvPr id="21" name="TextBox 20"/>
          <p:cNvSpPr txBox="1"/>
          <p:nvPr/>
        </p:nvSpPr>
        <p:spPr>
          <a:xfrm>
            <a:off x="9637776" y="2578608"/>
            <a:ext cx="1463040" cy="548640"/>
          </a:xfrm>
          <a:prstGeom prst="rect">
            <a:avLst/>
          </a:prstGeom>
          <a:noFill/>
        </p:spPr>
        <p:txBody>
          <a:bodyPr wrap="square" lIns="27432" rIns="27432" tIns="27432" bIns="27432" anchor="t">
            <a:spAutoFit/>
          </a:bodyPr>
          <a:lstStyle/>
          <a:p>
            <a:pPr algn="l"/>
            <a:r>
              <a:rPr sz="1650" b="1" i="0">
                <a:solidFill>
                  <a:srgbClr val="102A43"/>
                </a:solidFill>
                <a:latin typeface="Aptos"/>
              </a:rPr>
              <a:t>Răspuns</a:t>
            </a:r>
          </a:p>
        </p:txBody>
      </p:sp>
      <p:sp>
        <p:nvSpPr>
          <p:cNvPr id="22" name="TextBox 21"/>
          <p:cNvSpPr txBox="1"/>
          <p:nvPr/>
        </p:nvSpPr>
        <p:spPr>
          <a:xfrm>
            <a:off x="9116567" y="3182112"/>
            <a:ext cx="1856232" cy="923544"/>
          </a:xfrm>
          <a:prstGeom prst="rect">
            <a:avLst/>
          </a:prstGeom>
          <a:noFill/>
        </p:spPr>
        <p:txBody>
          <a:bodyPr wrap="square" lIns="27432" rIns="27432" tIns="27432" bIns="27432" anchor="t">
            <a:spAutoFit/>
          </a:bodyPr>
          <a:lstStyle/>
          <a:p>
            <a:pPr algn="l"/>
            <a:r>
              <a:rPr sz="1250" b="0" i="0">
                <a:solidFill>
                  <a:srgbClr val="647487"/>
                </a:solidFill>
                <a:latin typeface="Aptos"/>
              </a:rPr>
              <a:t>Corect, dar dependent de disponibilitatea unei alte persoane.</a:t>
            </a:r>
          </a:p>
        </p:txBody>
      </p:sp>
      <p:sp>
        <p:nvSpPr>
          <p:cNvPr id="23" name="Rounded Rectangle 22"/>
          <p:cNvSpPr/>
          <p:nvPr/>
        </p:nvSpPr>
        <p:spPr>
          <a:xfrm>
            <a:off x="2880360" y="4910328"/>
            <a:ext cx="6437376" cy="804672"/>
          </a:xfrm>
          <a:prstGeom prst="roundRect">
            <a:avLst>
              <a:gd name="adj" fmla="val 15909"/>
            </a:avLst>
          </a:prstGeom>
          <a:solidFill>
            <a:srgbClr val="FAECE9"/>
          </a:solidFill>
          <a:ln w="12700">
            <a:solidFill>
              <a:srgbClr val="FA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0" y="5120640"/>
            <a:ext cx="5989320" cy="347472"/>
          </a:xfrm>
          <a:prstGeom prst="rect">
            <a:avLst/>
          </a:prstGeom>
          <a:noFill/>
        </p:spPr>
        <p:txBody>
          <a:bodyPr wrap="square" lIns="27432" rIns="27432" tIns="27432" bIns="27432" anchor="t">
            <a:spAutoFit/>
          </a:bodyPr>
          <a:lstStyle/>
          <a:p>
            <a:pPr algn="l"/>
            <a:r>
              <a:rPr sz="1700" b="1" i="0">
                <a:solidFill>
                  <a:srgbClr val="C1483A"/>
                </a:solidFill>
                <a:latin typeface="Aptos"/>
              </a:rPr>
              <a:t>Blocajul: </a:t>
            </a:r>
            <a:r>
              <a:rPr sz="1700" b="0" i="0">
                <a:solidFill>
                  <a:srgbClr val="17212B"/>
                </a:solidFill>
                <a:latin typeface="Aptos"/>
              </a:rPr>
              <a:t>managerul nu cunoaște SQL și nu poate aștepta pentru fiecare întrebare de rutină.</a:t>
            </a:r>
          </a:p>
        </p:txBody>
      </p:sp>
      <p:sp>
        <p:nvSpPr>
          <p:cNvPr id="25" name="TextBox 24"/>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OBIECTIV</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Scopul proiectului</a:t>
            </a:r>
          </a:p>
        </p:txBody>
      </p:sp>
      <p:sp>
        <p:nvSpPr>
          <p:cNvPr id="4" name="TextBox 3"/>
          <p:cNvSpPr txBox="1"/>
          <p:nvPr/>
        </p:nvSpPr>
        <p:spPr>
          <a:xfrm>
            <a:off x="658368" y="1280160"/>
            <a:ext cx="7863840" cy="502920"/>
          </a:xfrm>
          <a:prstGeom prst="rect">
            <a:avLst/>
          </a:prstGeom>
          <a:noFill/>
        </p:spPr>
        <p:txBody>
          <a:bodyPr wrap="square" lIns="27432" rIns="27432" tIns="27432" bIns="27432" anchor="t">
            <a:spAutoFit/>
          </a:bodyPr>
          <a:lstStyle/>
          <a:p>
            <a:pPr algn="l"/>
            <a:r>
              <a:rPr sz="2500" b="1" i="0">
                <a:solidFill>
                  <a:srgbClr val="102A43"/>
                </a:solidFill>
                <a:latin typeface="Aptos"/>
              </a:rPr>
              <a:t>Un traseu direct de la întrebare la decizie</a:t>
            </a:r>
          </a:p>
        </p:txBody>
      </p:sp>
      <p:sp>
        <p:nvSpPr>
          <p:cNvPr id="5" name="Rounded Rectangle 4"/>
          <p:cNvSpPr/>
          <p:nvPr/>
        </p:nvSpPr>
        <p:spPr>
          <a:xfrm>
            <a:off x="713232" y="2121408"/>
            <a:ext cx="3364992" cy="2057400"/>
          </a:xfrm>
          <a:prstGeom prst="roundRect">
            <a:avLst>
              <a:gd name="adj" fmla="val 6222"/>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2249424"/>
            <a:ext cx="73152" cy="1801368"/>
          </a:xfrm>
          <a:prstGeom prst="rect">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9264" y="2377439"/>
            <a:ext cx="502920" cy="502920"/>
          </a:xfrm>
          <a:prstGeom prst="ellipse">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77439"/>
            <a:ext cx="502920" cy="502920"/>
          </a:xfrm>
          <a:prstGeom prst="rect">
            <a:avLst/>
          </a:prstGeom>
          <a:noFill/>
        </p:spPr>
        <p:txBody>
          <a:bodyPr wrap="square" lIns="27432" rIns="27432" tIns="27432" bIns="27432" anchor="ctr">
            <a:spAutoFit/>
          </a:bodyPr>
          <a:lstStyle/>
          <a:p>
            <a:pPr algn="ctr"/>
            <a:r>
              <a:rPr sz="1800" b="1" i="0">
                <a:solidFill>
                  <a:srgbClr val="FFFFFF"/>
                </a:solidFill>
                <a:latin typeface="Aptos"/>
              </a:rPr>
              <a:t>1</a:t>
            </a:r>
          </a:p>
        </p:txBody>
      </p:sp>
      <p:sp>
        <p:nvSpPr>
          <p:cNvPr id="9" name="TextBox 8"/>
          <p:cNvSpPr txBox="1"/>
          <p:nvPr/>
        </p:nvSpPr>
        <p:spPr>
          <a:xfrm>
            <a:off x="1554480" y="2322576"/>
            <a:ext cx="2377439" cy="548640"/>
          </a:xfrm>
          <a:prstGeom prst="rect">
            <a:avLst/>
          </a:prstGeom>
          <a:noFill/>
        </p:spPr>
        <p:txBody>
          <a:bodyPr wrap="square" lIns="27432" rIns="27432" tIns="27432" bIns="27432" anchor="t">
            <a:spAutoFit/>
          </a:bodyPr>
          <a:lstStyle/>
          <a:p>
            <a:pPr algn="l"/>
            <a:r>
              <a:rPr sz="1650" b="1" i="0">
                <a:solidFill>
                  <a:srgbClr val="102A43"/>
                </a:solidFill>
                <a:latin typeface="Aptos"/>
              </a:rPr>
              <a:t>Întreabă</a:t>
            </a:r>
          </a:p>
        </p:txBody>
      </p:sp>
      <p:sp>
        <p:nvSpPr>
          <p:cNvPr id="10" name="TextBox 9"/>
          <p:cNvSpPr txBox="1"/>
          <p:nvPr/>
        </p:nvSpPr>
        <p:spPr>
          <a:xfrm>
            <a:off x="1033271" y="2926079"/>
            <a:ext cx="2770632" cy="1097280"/>
          </a:xfrm>
          <a:prstGeom prst="rect">
            <a:avLst/>
          </a:prstGeom>
          <a:noFill/>
        </p:spPr>
        <p:txBody>
          <a:bodyPr wrap="square" lIns="27432" rIns="27432" tIns="27432" bIns="27432" anchor="t">
            <a:spAutoFit/>
          </a:bodyPr>
          <a:lstStyle/>
          <a:p>
            <a:pPr algn="l"/>
            <a:r>
              <a:rPr sz="1250" b="0" i="0">
                <a:solidFill>
                  <a:srgbClr val="647487"/>
                </a:solidFill>
                <a:latin typeface="Aptos"/>
              </a:rPr>
              <a:t>Utilizatorul formulează problema în limbaj natural.</a:t>
            </a:r>
          </a:p>
        </p:txBody>
      </p:sp>
      <p:sp>
        <p:nvSpPr>
          <p:cNvPr id="11" name="Right Arrow 10"/>
          <p:cNvSpPr/>
          <p:nvPr/>
        </p:nvSpPr>
        <p:spPr>
          <a:xfrm>
            <a:off x="4151376" y="2999232"/>
            <a:ext cx="310896" cy="292608"/>
          </a:xfrm>
          <a:prstGeom prst="rightArrow">
            <a:avLst/>
          </a:prstGeom>
          <a:solidFill>
            <a:srgbClr val="1F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35424" y="2121408"/>
            <a:ext cx="3364992" cy="2057400"/>
          </a:xfrm>
          <a:prstGeom prst="roundRect">
            <a:avLst>
              <a:gd name="adj" fmla="val 6222"/>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35424" y="2249424"/>
            <a:ext cx="73152" cy="1801368"/>
          </a:xfrm>
          <a:prstGeom prst="rect">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2377439"/>
            <a:ext cx="502920" cy="502920"/>
          </a:xfrm>
          <a:prstGeom prst="ellipse">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2377439"/>
            <a:ext cx="502920" cy="502920"/>
          </a:xfrm>
          <a:prstGeom prst="rect">
            <a:avLst/>
          </a:prstGeom>
          <a:noFill/>
        </p:spPr>
        <p:txBody>
          <a:bodyPr wrap="square" lIns="27432" rIns="27432" tIns="27432" bIns="27432" anchor="ctr">
            <a:spAutoFit/>
          </a:bodyPr>
          <a:lstStyle/>
          <a:p>
            <a:pPr algn="ctr"/>
            <a:r>
              <a:rPr sz="1800" b="1" i="0">
                <a:solidFill>
                  <a:srgbClr val="FFFFFF"/>
                </a:solidFill>
                <a:latin typeface="Aptos"/>
              </a:rPr>
              <a:t>2</a:t>
            </a:r>
          </a:p>
        </p:txBody>
      </p:sp>
      <p:sp>
        <p:nvSpPr>
          <p:cNvPr id="16" name="TextBox 15"/>
          <p:cNvSpPr txBox="1"/>
          <p:nvPr/>
        </p:nvSpPr>
        <p:spPr>
          <a:xfrm>
            <a:off x="5376672" y="2322576"/>
            <a:ext cx="2377440" cy="548640"/>
          </a:xfrm>
          <a:prstGeom prst="rect">
            <a:avLst/>
          </a:prstGeom>
          <a:noFill/>
        </p:spPr>
        <p:txBody>
          <a:bodyPr wrap="square" lIns="27432" rIns="27432" tIns="27432" bIns="27432" anchor="t">
            <a:spAutoFit/>
          </a:bodyPr>
          <a:lstStyle/>
          <a:p>
            <a:pPr algn="l"/>
            <a:r>
              <a:rPr sz="1650" b="1" i="0">
                <a:solidFill>
                  <a:srgbClr val="102A43"/>
                </a:solidFill>
                <a:latin typeface="Aptos"/>
              </a:rPr>
              <a:t>Înțelege</a:t>
            </a:r>
          </a:p>
        </p:txBody>
      </p:sp>
      <p:sp>
        <p:nvSpPr>
          <p:cNvPr id="17" name="TextBox 16"/>
          <p:cNvSpPr txBox="1"/>
          <p:nvPr/>
        </p:nvSpPr>
        <p:spPr>
          <a:xfrm>
            <a:off x="4855464" y="2926079"/>
            <a:ext cx="2770632" cy="1097280"/>
          </a:xfrm>
          <a:prstGeom prst="rect">
            <a:avLst/>
          </a:prstGeom>
          <a:noFill/>
        </p:spPr>
        <p:txBody>
          <a:bodyPr wrap="square" lIns="27432" rIns="27432" tIns="27432" bIns="27432" anchor="t">
            <a:spAutoFit/>
          </a:bodyPr>
          <a:lstStyle/>
          <a:p>
            <a:pPr algn="l"/>
            <a:r>
              <a:rPr sz="1250" b="0" i="0">
                <a:solidFill>
                  <a:srgbClr val="647487"/>
                </a:solidFill>
                <a:latin typeface="Aptos"/>
              </a:rPr>
              <a:t>Sistemul identifică schema, generează și validează SQL-ul.</a:t>
            </a:r>
          </a:p>
        </p:txBody>
      </p:sp>
      <p:sp>
        <p:nvSpPr>
          <p:cNvPr id="18" name="Right Arrow 17"/>
          <p:cNvSpPr/>
          <p:nvPr/>
        </p:nvSpPr>
        <p:spPr>
          <a:xfrm>
            <a:off x="7973567" y="2999232"/>
            <a:ext cx="310896" cy="292608"/>
          </a:xfrm>
          <a:prstGeom prst="rightArrow">
            <a:avLst/>
          </a:prstGeom>
          <a:solidFill>
            <a:srgbClr val="C14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57615" y="2121408"/>
            <a:ext cx="3364992" cy="2057400"/>
          </a:xfrm>
          <a:prstGeom prst="roundRect">
            <a:avLst>
              <a:gd name="adj" fmla="val 6222"/>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57615" y="2249424"/>
            <a:ext cx="73152" cy="1801368"/>
          </a:xfrm>
          <a:prstGeom prst="rect">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13647" y="2377439"/>
            <a:ext cx="502920" cy="502920"/>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13647" y="2377439"/>
            <a:ext cx="502920" cy="502920"/>
          </a:xfrm>
          <a:prstGeom prst="rect">
            <a:avLst/>
          </a:prstGeom>
          <a:noFill/>
        </p:spPr>
        <p:txBody>
          <a:bodyPr wrap="square" lIns="27432" rIns="27432" tIns="27432" bIns="27432" anchor="ctr">
            <a:spAutoFit/>
          </a:bodyPr>
          <a:lstStyle/>
          <a:p>
            <a:pPr algn="ctr"/>
            <a:r>
              <a:rPr sz="1800" b="1" i="0">
                <a:solidFill>
                  <a:srgbClr val="FFFFFF"/>
                </a:solidFill>
                <a:latin typeface="Aptos"/>
              </a:rPr>
              <a:t>3</a:t>
            </a:r>
          </a:p>
        </p:txBody>
      </p:sp>
      <p:sp>
        <p:nvSpPr>
          <p:cNvPr id="23" name="TextBox 22"/>
          <p:cNvSpPr txBox="1"/>
          <p:nvPr/>
        </p:nvSpPr>
        <p:spPr>
          <a:xfrm>
            <a:off x="9198863" y="2322576"/>
            <a:ext cx="2377440" cy="548640"/>
          </a:xfrm>
          <a:prstGeom prst="rect">
            <a:avLst/>
          </a:prstGeom>
          <a:noFill/>
        </p:spPr>
        <p:txBody>
          <a:bodyPr wrap="square" lIns="27432" rIns="27432" tIns="27432" bIns="27432" anchor="t">
            <a:spAutoFit/>
          </a:bodyPr>
          <a:lstStyle/>
          <a:p>
            <a:pPr algn="l"/>
            <a:r>
              <a:rPr sz="1650" b="1" i="0">
                <a:solidFill>
                  <a:srgbClr val="102A43"/>
                </a:solidFill>
                <a:latin typeface="Aptos"/>
              </a:rPr>
              <a:t>Decide</a:t>
            </a:r>
          </a:p>
        </p:txBody>
      </p:sp>
      <p:sp>
        <p:nvSpPr>
          <p:cNvPr id="24" name="TextBox 23"/>
          <p:cNvSpPr txBox="1"/>
          <p:nvPr/>
        </p:nvSpPr>
        <p:spPr>
          <a:xfrm>
            <a:off x="8677655" y="2926079"/>
            <a:ext cx="2770632" cy="1097280"/>
          </a:xfrm>
          <a:prstGeom prst="rect">
            <a:avLst/>
          </a:prstGeom>
          <a:noFill/>
        </p:spPr>
        <p:txBody>
          <a:bodyPr wrap="square" lIns="27432" rIns="27432" tIns="27432" bIns="27432" anchor="t">
            <a:spAutoFit/>
          </a:bodyPr>
          <a:lstStyle/>
          <a:p>
            <a:pPr algn="l"/>
            <a:r>
              <a:rPr sz="1250" b="0" i="0">
                <a:solidFill>
                  <a:srgbClr val="647487"/>
                </a:solidFill>
                <a:latin typeface="Aptos"/>
              </a:rPr>
              <a:t>Rezultatul este explicat și transformat în tabel sau grafic.</a:t>
            </a:r>
          </a:p>
        </p:txBody>
      </p:sp>
      <p:sp>
        <p:nvSpPr>
          <p:cNvPr id="25" name="Rounded Rectangle 24"/>
          <p:cNvSpPr/>
          <p:nvPr/>
        </p:nvSpPr>
        <p:spPr>
          <a:xfrm>
            <a:off x="1353312" y="4773168"/>
            <a:ext cx="9473184" cy="868680"/>
          </a:xfrm>
          <a:prstGeom prst="roundRect">
            <a:avLst>
              <a:gd name="adj" fmla="val 14736"/>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5020056"/>
            <a:ext cx="8887968" cy="365760"/>
          </a:xfrm>
          <a:prstGeom prst="rect">
            <a:avLst/>
          </a:prstGeom>
          <a:noFill/>
        </p:spPr>
        <p:txBody>
          <a:bodyPr wrap="square" lIns="27432" rIns="27432" tIns="27432" bIns="27432" anchor="t">
            <a:spAutoFit/>
          </a:bodyPr>
          <a:lstStyle/>
          <a:p>
            <a:pPr algn="ctr"/>
            <a:r>
              <a:rPr sz="1800" b="1" i="0">
                <a:solidFill>
                  <a:srgbClr val="FFFFFF"/>
                </a:solidFill>
                <a:latin typeface="Aptos"/>
              </a:rPr>
              <a:t>Răspunsuri de zi cu zi, fără bariera SQL — cu control, trasabilitate și acces numai în citire.</a:t>
            </a:r>
          </a:p>
        </p:txBody>
      </p:sp>
      <p:sp>
        <p:nvSpPr>
          <p:cNvPr id="27" name="TextBox 26"/>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E1A83B"/>
                </a:solidFill>
                <a:latin typeface="Aptos"/>
              </a:rPr>
              <a:t>APLICAȚIA</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FFFFFF"/>
                </a:solidFill>
                <a:latin typeface="Aptos"/>
              </a:rPr>
              <a:t>Din întrebare, direct la răspuns</a:t>
            </a:r>
          </a:p>
        </p:txBody>
      </p:sp>
      <p:sp>
        <p:nvSpPr>
          <p:cNvPr id="4" name="Rounded Rectangle 3"/>
          <p:cNvSpPr/>
          <p:nvPr/>
        </p:nvSpPr>
        <p:spPr>
          <a:xfrm>
            <a:off x="658368" y="1353312"/>
            <a:ext cx="7360920" cy="4709160"/>
          </a:xfrm>
          <a:prstGeom prst="roundRect">
            <a:avLst>
              <a:gd name="adj" fmla="val 2718"/>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workbench-raspuns-si-sql.png"/>
          <p:cNvPicPr>
            <a:picLocks noChangeAspect="1"/>
          </p:cNvPicPr>
          <p:nvPr/>
        </p:nvPicPr>
        <p:blipFill>
          <a:blip r:embed="rId2"/>
          <a:stretch>
            <a:fillRect/>
          </a:stretch>
        </p:blipFill>
        <p:spPr>
          <a:xfrm>
            <a:off x="859821" y="1481328"/>
            <a:ext cx="6958012" cy="4453128"/>
          </a:xfrm>
          <a:prstGeom prst="rect">
            <a:avLst/>
          </a:prstGeom>
        </p:spPr>
      </p:pic>
      <p:sp>
        <p:nvSpPr>
          <p:cNvPr id="6" name="Rounded Rectangle 5"/>
          <p:cNvSpPr/>
          <p:nvPr/>
        </p:nvSpPr>
        <p:spPr>
          <a:xfrm>
            <a:off x="8339327" y="1353312"/>
            <a:ext cx="3145536" cy="4709160"/>
          </a:xfrm>
          <a:prstGeom prst="roundRect">
            <a:avLst>
              <a:gd name="adj" fmla="val 4069"/>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05088" y="1773936"/>
            <a:ext cx="201168" cy="201168"/>
          </a:xfrm>
          <a:prstGeom prst="ellipse">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1682495"/>
            <a:ext cx="2249424" cy="420624"/>
          </a:xfrm>
          <a:prstGeom prst="rect">
            <a:avLst/>
          </a:prstGeom>
          <a:noFill/>
        </p:spPr>
        <p:txBody>
          <a:bodyPr wrap="square" lIns="27432" rIns="27432" tIns="27432" bIns="27432" anchor="t">
            <a:spAutoFit/>
          </a:bodyPr>
          <a:lstStyle/>
          <a:p>
            <a:pPr algn="l"/>
            <a:r>
              <a:rPr sz="1350" b="1" i="0">
                <a:solidFill>
                  <a:srgbClr val="FFFFFF"/>
                </a:solidFill>
                <a:latin typeface="Aptos"/>
              </a:rPr>
              <a:t>Răspuns conversațional</a:t>
            </a:r>
          </a:p>
        </p:txBody>
      </p:sp>
      <p:sp>
        <p:nvSpPr>
          <p:cNvPr id="9" name="TextBox 8"/>
          <p:cNvSpPr txBox="1"/>
          <p:nvPr/>
        </p:nvSpPr>
        <p:spPr>
          <a:xfrm>
            <a:off x="9034272" y="2176272"/>
            <a:ext cx="2231136" cy="676656"/>
          </a:xfrm>
          <a:prstGeom prst="rect">
            <a:avLst/>
          </a:prstGeom>
          <a:noFill/>
        </p:spPr>
        <p:txBody>
          <a:bodyPr wrap="square" lIns="27432" rIns="27432" tIns="27432" bIns="27432" anchor="t">
            <a:spAutoFit/>
          </a:bodyPr>
          <a:lstStyle/>
          <a:p>
            <a:pPr algn="l"/>
            <a:r>
              <a:rPr sz="1150" b="0" i="0">
                <a:solidFill>
                  <a:srgbClr val="B8CAD8"/>
                </a:solidFill>
                <a:latin typeface="Aptos"/>
              </a:rPr>
              <a:t>Explicația este formulată pentru utilizator, nu pentru baza de date.</a:t>
            </a:r>
          </a:p>
        </p:txBody>
      </p:sp>
      <p:sp>
        <p:nvSpPr>
          <p:cNvPr id="10" name="Oval 9"/>
          <p:cNvSpPr/>
          <p:nvPr/>
        </p:nvSpPr>
        <p:spPr>
          <a:xfrm>
            <a:off x="8705088" y="3191256"/>
            <a:ext cx="201168" cy="201168"/>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34272" y="3099816"/>
            <a:ext cx="2249424" cy="420624"/>
          </a:xfrm>
          <a:prstGeom prst="rect">
            <a:avLst/>
          </a:prstGeom>
          <a:noFill/>
        </p:spPr>
        <p:txBody>
          <a:bodyPr wrap="square" lIns="27432" rIns="27432" tIns="27432" bIns="27432" anchor="t">
            <a:spAutoFit/>
          </a:bodyPr>
          <a:lstStyle/>
          <a:p>
            <a:pPr algn="l"/>
            <a:r>
              <a:rPr sz="1350" b="1" i="0">
                <a:solidFill>
                  <a:srgbClr val="FFFFFF"/>
                </a:solidFill>
                <a:latin typeface="Aptos"/>
              </a:rPr>
              <a:t>Rezultat verificabil</a:t>
            </a:r>
          </a:p>
        </p:txBody>
      </p:sp>
      <p:sp>
        <p:nvSpPr>
          <p:cNvPr id="12" name="TextBox 11"/>
          <p:cNvSpPr txBox="1"/>
          <p:nvPr/>
        </p:nvSpPr>
        <p:spPr>
          <a:xfrm>
            <a:off x="9034272" y="3593592"/>
            <a:ext cx="2231136" cy="676656"/>
          </a:xfrm>
          <a:prstGeom prst="rect">
            <a:avLst/>
          </a:prstGeom>
          <a:noFill/>
        </p:spPr>
        <p:txBody>
          <a:bodyPr wrap="square" lIns="27432" rIns="27432" tIns="27432" bIns="27432" anchor="t">
            <a:spAutoFit/>
          </a:bodyPr>
          <a:lstStyle/>
          <a:p>
            <a:pPr algn="l"/>
            <a:r>
              <a:rPr sz="1150" b="0" i="0">
                <a:solidFill>
                  <a:srgbClr val="B8CAD8"/>
                </a:solidFill>
                <a:latin typeface="Aptos"/>
              </a:rPr>
              <a:t>Tabelul și graficul provin din interogarea executată.</a:t>
            </a:r>
          </a:p>
        </p:txBody>
      </p:sp>
      <p:sp>
        <p:nvSpPr>
          <p:cNvPr id="13" name="Oval 12"/>
          <p:cNvSpPr/>
          <p:nvPr/>
        </p:nvSpPr>
        <p:spPr>
          <a:xfrm>
            <a:off x="8705088" y="4608576"/>
            <a:ext cx="201168" cy="201168"/>
          </a:xfrm>
          <a:prstGeom prst="ellipse">
            <a:avLst/>
          </a:prstGeom>
          <a:solidFill>
            <a:srgbClr val="E1A83B"/>
          </a:solidFill>
          <a:ln w="12700">
            <a:solidFill>
              <a:srgbClr val="E1A8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4517136"/>
            <a:ext cx="2249424" cy="420624"/>
          </a:xfrm>
          <a:prstGeom prst="rect">
            <a:avLst/>
          </a:prstGeom>
          <a:noFill/>
        </p:spPr>
        <p:txBody>
          <a:bodyPr wrap="square" lIns="27432" rIns="27432" tIns="27432" bIns="27432" anchor="t">
            <a:spAutoFit/>
          </a:bodyPr>
          <a:lstStyle/>
          <a:p>
            <a:pPr algn="l"/>
            <a:r>
              <a:rPr sz="1350" b="1" i="0">
                <a:solidFill>
                  <a:srgbClr val="FFFFFF"/>
                </a:solidFill>
                <a:latin typeface="Aptos"/>
              </a:rPr>
              <a:t>Raport reutilizabil</a:t>
            </a:r>
          </a:p>
        </p:txBody>
      </p:sp>
      <p:sp>
        <p:nvSpPr>
          <p:cNvPr id="15" name="TextBox 14"/>
          <p:cNvSpPr txBox="1"/>
          <p:nvPr/>
        </p:nvSpPr>
        <p:spPr>
          <a:xfrm>
            <a:off x="9034272" y="5010912"/>
            <a:ext cx="2231136" cy="676656"/>
          </a:xfrm>
          <a:prstGeom prst="rect">
            <a:avLst/>
          </a:prstGeom>
          <a:noFill/>
        </p:spPr>
        <p:txBody>
          <a:bodyPr wrap="square" lIns="27432" rIns="27432" tIns="27432" bIns="27432" anchor="t">
            <a:spAutoFit/>
          </a:bodyPr>
          <a:lstStyle/>
          <a:p>
            <a:pPr algn="l"/>
            <a:r>
              <a:rPr sz="1150" b="0" i="0">
                <a:solidFill>
                  <a:srgbClr val="B8CAD8"/>
                </a:solidFill>
                <a:latin typeface="Aptos"/>
              </a:rPr>
              <a:t>Datele pot fi exportate pentru analiză și prezentare.</a:t>
            </a:r>
          </a:p>
        </p:txBody>
      </p:sp>
      <p:sp>
        <p:nvSpPr>
          <p:cNvPr id="16" name="TextBox 15"/>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A8B6C4"/>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ARHITECTURĂ</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Cum funcționează soluția</a:t>
            </a:r>
          </a:p>
        </p:txBody>
      </p:sp>
      <p:sp>
        <p:nvSpPr>
          <p:cNvPr id="4" name="Rounded Rectangle 3"/>
          <p:cNvSpPr/>
          <p:nvPr/>
        </p:nvSpPr>
        <p:spPr>
          <a:xfrm>
            <a:off x="640080" y="1353312"/>
            <a:ext cx="7543800" cy="4434840"/>
          </a:xfrm>
          <a:prstGeom prst="roundRect">
            <a:avLst>
              <a:gd name="adj" fmla="val 288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rm_rag.png"/>
          <p:cNvPicPr>
            <a:picLocks noChangeAspect="1"/>
          </p:cNvPicPr>
          <p:nvPr/>
        </p:nvPicPr>
        <p:blipFill>
          <a:blip r:embed="rId2"/>
          <a:stretch>
            <a:fillRect/>
          </a:stretch>
        </p:blipFill>
        <p:spPr>
          <a:xfrm>
            <a:off x="768096" y="1688988"/>
            <a:ext cx="7287768" cy="3763486"/>
          </a:xfrm>
          <a:prstGeom prst="rect">
            <a:avLst/>
          </a:prstGeom>
        </p:spPr>
      </p:pic>
      <p:sp>
        <p:nvSpPr>
          <p:cNvPr id="6" name="Rounded Rectangle 5"/>
          <p:cNvSpPr/>
          <p:nvPr/>
        </p:nvSpPr>
        <p:spPr>
          <a:xfrm>
            <a:off x="8485632" y="1353312"/>
            <a:ext cx="3017520" cy="4434840"/>
          </a:xfrm>
          <a:prstGeom prst="roundRect">
            <a:avLst>
              <a:gd name="adj" fmla="val 4242"/>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33104" y="1682496"/>
            <a:ext cx="2340864" cy="384048"/>
          </a:xfrm>
          <a:prstGeom prst="rect">
            <a:avLst/>
          </a:prstGeom>
          <a:noFill/>
        </p:spPr>
        <p:txBody>
          <a:bodyPr wrap="square" lIns="27432" rIns="27432" tIns="27432" bIns="27432" anchor="t">
            <a:spAutoFit/>
          </a:bodyPr>
          <a:lstStyle/>
          <a:p>
            <a:pPr algn="l"/>
            <a:r>
              <a:rPr sz="1800" b="1" i="0">
                <a:solidFill>
                  <a:srgbClr val="FFFFFF"/>
                </a:solidFill>
                <a:latin typeface="Aptos"/>
              </a:rPr>
              <a:t>Principii de proiectare</a:t>
            </a:r>
          </a:p>
        </p:txBody>
      </p:sp>
      <p:sp>
        <p:nvSpPr>
          <p:cNvPr id="8" name="TextBox 7"/>
          <p:cNvSpPr txBox="1"/>
          <p:nvPr/>
        </p:nvSpPr>
        <p:spPr>
          <a:xfrm>
            <a:off x="8823960" y="2404872"/>
            <a:ext cx="384048" cy="256032"/>
          </a:xfrm>
          <a:prstGeom prst="rect">
            <a:avLst/>
          </a:prstGeom>
          <a:noFill/>
        </p:spPr>
        <p:txBody>
          <a:bodyPr wrap="square" lIns="27432" rIns="27432" tIns="27432" bIns="27432" anchor="t">
            <a:spAutoFit/>
          </a:bodyPr>
          <a:lstStyle/>
          <a:p>
            <a:pPr algn="l"/>
            <a:r>
              <a:rPr sz="1000" b="1" i="0">
                <a:solidFill>
                  <a:srgbClr val="1F6FB4"/>
                </a:solidFill>
                <a:latin typeface="Aptos"/>
              </a:rPr>
              <a:t>01</a:t>
            </a:r>
          </a:p>
        </p:txBody>
      </p:sp>
      <p:sp>
        <p:nvSpPr>
          <p:cNvPr id="9" name="TextBox 8"/>
          <p:cNvSpPr txBox="1"/>
          <p:nvPr/>
        </p:nvSpPr>
        <p:spPr>
          <a:xfrm>
            <a:off x="9290304" y="2377440"/>
            <a:ext cx="1810512" cy="457200"/>
          </a:xfrm>
          <a:prstGeom prst="rect">
            <a:avLst/>
          </a:prstGeom>
          <a:noFill/>
        </p:spPr>
        <p:txBody>
          <a:bodyPr wrap="square" lIns="27432" rIns="27432" tIns="27432" bIns="27432" anchor="t">
            <a:spAutoFit/>
          </a:bodyPr>
          <a:lstStyle/>
          <a:p>
            <a:pPr algn="l"/>
            <a:r>
              <a:rPr sz="1250" b="1" i="0">
                <a:solidFill>
                  <a:srgbClr val="FFFFFF"/>
                </a:solidFill>
                <a:latin typeface="Aptos"/>
              </a:rPr>
              <a:t>Context relevant, nu întreaga bază</a:t>
            </a:r>
          </a:p>
        </p:txBody>
      </p:sp>
      <p:sp>
        <p:nvSpPr>
          <p:cNvPr id="10" name="TextBox 9"/>
          <p:cNvSpPr txBox="1"/>
          <p:nvPr/>
        </p:nvSpPr>
        <p:spPr>
          <a:xfrm>
            <a:off x="8823960" y="3108960"/>
            <a:ext cx="384048" cy="256032"/>
          </a:xfrm>
          <a:prstGeom prst="rect">
            <a:avLst/>
          </a:prstGeom>
          <a:noFill/>
        </p:spPr>
        <p:txBody>
          <a:bodyPr wrap="square" lIns="27432" rIns="27432" tIns="27432" bIns="27432" anchor="t">
            <a:spAutoFit/>
          </a:bodyPr>
          <a:lstStyle/>
          <a:p>
            <a:pPr algn="l"/>
            <a:r>
              <a:rPr sz="1000" b="1" i="0">
                <a:solidFill>
                  <a:srgbClr val="C1483A"/>
                </a:solidFill>
                <a:latin typeface="Aptos"/>
              </a:rPr>
              <a:t>02</a:t>
            </a:r>
          </a:p>
        </p:txBody>
      </p:sp>
      <p:sp>
        <p:nvSpPr>
          <p:cNvPr id="11" name="TextBox 10"/>
          <p:cNvSpPr txBox="1"/>
          <p:nvPr/>
        </p:nvSpPr>
        <p:spPr>
          <a:xfrm>
            <a:off x="9290304" y="3081528"/>
            <a:ext cx="1810512" cy="457200"/>
          </a:xfrm>
          <a:prstGeom prst="rect">
            <a:avLst/>
          </a:prstGeom>
          <a:noFill/>
        </p:spPr>
        <p:txBody>
          <a:bodyPr wrap="square" lIns="27432" rIns="27432" tIns="27432" bIns="27432" anchor="t">
            <a:spAutoFit/>
          </a:bodyPr>
          <a:lstStyle/>
          <a:p>
            <a:pPr algn="l"/>
            <a:r>
              <a:rPr sz="1250" b="1" i="0">
                <a:solidFill>
                  <a:srgbClr val="FFFFFF"/>
                </a:solidFill>
                <a:latin typeface="Aptos"/>
              </a:rPr>
              <a:t>Validare pe arborele sintactic</a:t>
            </a:r>
          </a:p>
        </p:txBody>
      </p:sp>
      <p:sp>
        <p:nvSpPr>
          <p:cNvPr id="12" name="TextBox 11"/>
          <p:cNvSpPr txBox="1"/>
          <p:nvPr/>
        </p:nvSpPr>
        <p:spPr>
          <a:xfrm>
            <a:off x="8823960" y="3813048"/>
            <a:ext cx="384048" cy="256032"/>
          </a:xfrm>
          <a:prstGeom prst="rect">
            <a:avLst/>
          </a:prstGeom>
          <a:noFill/>
        </p:spPr>
        <p:txBody>
          <a:bodyPr wrap="square" lIns="27432" rIns="27432" tIns="27432" bIns="27432" anchor="t">
            <a:spAutoFit/>
          </a:bodyPr>
          <a:lstStyle/>
          <a:p>
            <a:pPr algn="l"/>
            <a:r>
              <a:rPr sz="1000" b="1" i="0">
                <a:solidFill>
                  <a:srgbClr val="2E8B57"/>
                </a:solidFill>
                <a:latin typeface="Aptos"/>
              </a:rPr>
              <a:t>03</a:t>
            </a:r>
          </a:p>
        </p:txBody>
      </p:sp>
      <p:sp>
        <p:nvSpPr>
          <p:cNvPr id="13" name="TextBox 12"/>
          <p:cNvSpPr txBox="1"/>
          <p:nvPr/>
        </p:nvSpPr>
        <p:spPr>
          <a:xfrm>
            <a:off x="9290304" y="3785615"/>
            <a:ext cx="1810512" cy="457200"/>
          </a:xfrm>
          <a:prstGeom prst="rect">
            <a:avLst/>
          </a:prstGeom>
          <a:noFill/>
        </p:spPr>
        <p:txBody>
          <a:bodyPr wrap="square" lIns="27432" rIns="27432" tIns="27432" bIns="27432" anchor="t">
            <a:spAutoFit/>
          </a:bodyPr>
          <a:lstStyle/>
          <a:p>
            <a:pPr algn="l"/>
            <a:r>
              <a:rPr sz="1250" b="1" i="0">
                <a:solidFill>
                  <a:srgbClr val="FFFFFF"/>
                </a:solidFill>
                <a:latin typeface="Aptos"/>
              </a:rPr>
              <a:t>Rol PostgreSQL numai pentru citire</a:t>
            </a:r>
          </a:p>
        </p:txBody>
      </p:sp>
      <p:sp>
        <p:nvSpPr>
          <p:cNvPr id="14" name="TextBox 13"/>
          <p:cNvSpPr txBox="1"/>
          <p:nvPr/>
        </p:nvSpPr>
        <p:spPr>
          <a:xfrm>
            <a:off x="8823960" y="4517136"/>
            <a:ext cx="384048" cy="256032"/>
          </a:xfrm>
          <a:prstGeom prst="rect">
            <a:avLst/>
          </a:prstGeom>
          <a:noFill/>
        </p:spPr>
        <p:txBody>
          <a:bodyPr wrap="square" lIns="27432" rIns="27432" tIns="27432" bIns="27432" anchor="t">
            <a:spAutoFit/>
          </a:bodyPr>
          <a:lstStyle/>
          <a:p>
            <a:pPr algn="l"/>
            <a:r>
              <a:rPr sz="1000" b="1" i="0">
                <a:solidFill>
                  <a:srgbClr val="E1A83B"/>
                </a:solidFill>
                <a:latin typeface="Aptos"/>
              </a:rPr>
              <a:t>04</a:t>
            </a:r>
          </a:p>
        </p:txBody>
      </p:sp>
      <p:sp>
        <p:nvSpPr>
          <p:cNvPr id="15" name="TextBox 14"/>
          <p:cNvSpPr txBox="1"/>
          <p:nvPr/>
        </p:nvSpPr>
        <p:spPr>
          <a:xfrm>
            <a:off x="9290304" y="4489703"/>
            <a:ext cx="1810512" cy="457200"/>
          </a:xfrm>
          <a:prstGeom prst="rect">
            <a:avLst/>
          </a:prstGeom>
          <a:noFill/>
        </p:spPr>
        <p:txBody>
          <a:bodyPr wrap="square" lIns="27432" rIns="27432" tIns="27432" bIns="27432" anchor="t">
            <a:spAutoFit/>
          </a:bodyPr>
          <a:lstStyle/>
          <a:p>
            <a:pPr algn="l"/>
            <a:r>
              <a:rPr sz="1250" b="1" i="0">
                <a:solidFill>
                  <a:srgbClr val="FFFFFF"/>
                </a:solidFill>
                <a:latin typeface="Aptos"/>
              </a:rPr>
              <a:t>Limită de timp și de rânduri</a:t>
            </a:r>
          </a:p>
        </p:txBody>
      </p:sp>
      <p:sp>
        <p:nvSpPr>
          <p:cNvPr id="16" name="TextBox 15"/>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Configurația RAG implementată în proiect</a:t>
            </a:r>
          </a:p>
        </p:txBody>
      </p:sp>
      <p:sp>
        <p:nvSpPr>
          <p:cNvPr id="17" name="TextBox 16"/>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E1A83B"/>
                </a:solidFill>
                <a:latin typeface="Aptos"/>
              </a:rPr>
              <a:t>PARTEA A DOUA</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FFFFFF"/>
                </a:solidFill>
                <a:latin typeface="Aptos"/>
              </a:rPr>
              <a:t>Sistemul funcționează.
Este însă arhitectura potrivită?</a:t>
            </a:r>
          </a:p>
        </p:txBody>
      </p:sp>
      <p:sp>
        <p:nvSpPr>
          <p:cNvPr id="4" name="TextBox 3"/>
          <p:cNvSpPr txBox="1"/>
          <p:nvPr/>
        </p:nvSpPr>
        <p:spPr>
          <a:xfrm>
            <a:off x="658368" y="2157984"/>
            <a:ext cx="4846320" cy="1371600"/>
          </a:xfrm>
          <a:prstGeom prst="rect">
            <a:avLst/>
          </a:prstGeom>
          <a:noFill/>
        </p:spPr>
        <p:txBody>
          <a:bodyPr wrap="square" lIns="27432" rIns="27432" tIns="27432" bIns="27432" anchor="t">
            <a:spAutoFit/>
          </a:bodyPr>
          <a:lstStyle/>
          <a:p>
            <a:pPr algn="l"/>
            <a:r>
              <a:rPr sz="1700" b="0" i="0">
                <a:solidFill>
                  <a:srgbClr val="B8CAD8"/>
                </a:solidFill>
                <a:latin typeface="Aptos"/>
              </a:rPr>
              <a:t>Arhitectura prezentată până aici constituie o alegere de proiectare, nu un rezultat măsurat. Fiecare decizie este verificată experimental în continuare.</a:t>
            </a:r>
          </a:p>
        </p:txBody>
      </p:sp>
      <p:sp>
        <p:nvSpPr>
          <p:cNvPr id="5" name="Rounded Rectangle 4"/>
          <p:cNvSpPr/>
          <p:nvPr/>
        </p:nvSpPr>
        <p:spPr>
          <a:xfrm>
            <a:off x="6172200" y="1645920"/>
            <a:ext cx="5358384" cy="932688"/>
          </a:xfrm>
          <a:prstGeom prst="roundRect">
            <a:avLst>
              <a:gd name="adj" fmla="val 13725"/>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645920"/>
            <a:ext cx="502920" cy="932688"/>
          </a:xfrm>
          <a:prstGeom prst="rect">
            <a:avLst/>
          </a:prstGeom>
          <a:noFill/>
        </p:spPr>
        <p:txBody>
          <a:bodyPr wrap="square" lIns="27432" rIns="27432" tIns="27432" bIns="27432" anchor="ctr">
            <a:spAutoFit/>
          </a:bodyPr>
          <a:lstStyle/>
          <a:p>
            <a:pPr algn="l"/>
            <a:r>
              <a:rPr sz="1500" b="1" i="0">
                <a:solidFill>
                  <a:srgbClr val="1F6FB4"/>
                </a:solidFill>
                <a:latin typeface="Aptos"/>
              </a:rPr>
              <a:t>01</a:t>
            </a:r>
          </a:p>
        </p:txBody>
      </p:sp>
      <p:sp>
        <p:nvSpPr>
          <p:cNvPr id="7" name="TextBox 6"/>
          <p:cNvSpPr txBox="1"/>
          <p:nvPr/>
        </p:nvSpPr>
        <p:spPr>
          <a:xfrm>
            <a:off x="7059168" y="1645920"/>
            <a:ext cx="4224528" cy="932688"/>
          </a:xfrm>
          <a:prstGeom prst="rect">
            <a:avLst/>
          </a:prstGeom>
          <a:noFill/>
        </p:spPr>
        <p:txBody>
          <a:bodyPr wrap="square" lIns="27432" rIns="27432" tIns="27432" bIns="27432" anchor="ctr">
            <a:spAutoFit/>
          </a:bodyPr>
          <a:lstStyle/>
          <a:p>
            <a:pPr algn="l"/>
            <a:r>
              <a:rPr sz="1600" b="1" i="0">
                <a:solidFill>
                  <a:srgbClr val="FFFFFF"/>
                </a:solidFill>
                <a:latin typeface="Aptos"/>
              </a:rPr>
              <a:t>Cum ar trebui generat SQL-ul?</a:t>
            </a:r>
          </a:p>
        </p:txBody>
      </p:sp>
      <p:sp>
        <p:nvSpPr>
          <p:cNvPr id="8" name="Rounded Rectangle 7"/>
          <p:cNvSpPr/>
          <p:nvPr/>
        </p:nvSpPr>
        <p:spPr>
          <a:xfrm>
            <a:off x="6172200" y="2779776"/>
            <a:ext cx="5358384" cy="932688"/>
          </a:xfrm>
          <a:prstGeom prst="roundRect">
            <a:avLst>
              <a:gd name="adj" fmla="val 13725"/>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779776"/>
            <a:ext cx="502920" cy="932688"/>
          </a:xfrm>
          <a:prstGeom prst="rect">
            <a:avLst/>
          </a:prstGeom>
          <a:noFill/>
        </p:spPr>
        <p:txBody>
          <a:bodyPr wrap="square" lIns="27432" rIns="27432" tIns="27432" bIns="27432" anchor="ctr">
            <a:spAutoFit/>
          </a:bodyPr>
          <a:lstStyle/>
          <a:p>
            <a:pPr algn="l"/>
            <a:r>
              <a:rPr sz="1500" b="1" i="0">
                <a:solidFill>
                  <a:srgbClr val="C1483A"/>
                </a:solidFill>
                <a:latin typeface="Aptos"/>
              </a:rPr>
              <a:t>02</a:t>
            </a:r>
          </a:p>
        </p:txBody>
      </p:sp>
      <p:sp>
        <p:nvSpPr>
          <p:cNvPr id="10" name="TextBox 9"/>
          <p:cNvSpPr txBox="1"/>
          <p:nvPr/>
        </p:nvSpPr>
        <p:spPr>
          <a:xfrm>
            <a:off x="7059168" y="2779776"/>
            <a:ext cx="4224528" cy="932688"/>
          </a:xfrm>
          <a:prstGeom prst="rect">
            <a:avLst/>
          </a:prstGeom>
          <a:noFill/>
        </p:spPr>
        <p:txBody>
          <a:bodyPr wrap="square" lIns="27432" rIns="27432" tIns="27432" bIns="27432" anchor="ctr">
            <a:spAutoFit/>
          </a:bodyPr>
          <a:lstStyle/>
          <a:p>
            <a:pPr algn="l"/>
            <a:r>
              <a:rPr sz="1600" b="1" i="0">
                <a:solidFill>
                  <a:srgbClr val="FFFFFF"/>
                </a:solidFill>
                <a:latin typeface="Aptos"/>
              </a:rPr>
              <a:t>Cât costă fiecare variantă?</a:t>
            </a:r>
          </a:p>
        </p:txBody>
      </p:sp>
      <p:sp>
        <p:nvSpPr>
          <p:cNvPr id="11" name="Rounded Rectangle 10"/>
          <p:cNvSpPr/>
          <p:nvPr/>
        </p:nvSpPr>
        <p:spPr>
          <a:xfrm>
            <a:off x="6172200" y="3913632"/>
            <a:ext cx="5358384" cy="932688"/>
          </a:xfrm>
          <a:prstGeom prst="roundRect">
            <a:avLst>
              <a:gd name="adj" fmla="val 13725"/>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913632"/>
            <a:ext cx="502920" cy="932688"/>
          </a:xfrm>
          <a:prstGeom prst="rect">
            <a:avLst/>
          </a:prstGeom>
          <a:noFill/>
        </p:spPr>
        <p:txBody>
          <a:bodyPr wrap="square" lIns="27432" rIns="27432" tIns="27432" bIns="27432" anchor="ctr">
            <a:spAutoFit/>
          </a:bodyPr>
          <a:lstStyle/>
          <a:p>
            <a:pPr algn="l"/>
            <a:r>
              <a:rPr sz="1500" b="1" i="0">
                <a:solidFill>
                  <a:srgbClr val="2E8B57"/>
                </a:solidFill>
                <a:latin typeface="Aptos"/>
              </a:rPr>
              <a:t>03</a:t>
            </a:r>
          </a:p>
        </p:txBody>
      </p:sp>
      <p:sp>
        <p:nvSpPr>
          <p:cNvPr id="13" name="TextBox 12"/>
          <p:cNvSpPr txBox="1"/>
          <p:nvPr/>
        </p:nvSpPr>
        <p:spPr>
          <a:xfrm>
            <a:off x="7059168" y="3913632"/>
            <a:ext cx="4224528" cy="932688"/>
          </a:xfrm>
          <a:prstGeom prst="rect">
            <a:avLst/>
          </a:prstGeom>
          <a:noFill/>
        </p:spPr>
        <p:txBody>
          <a:bodyPr wrap="square" lIns="27432" rIns="27432" tIns="27432" bIns="27432" anchor="ctr">
            <a:spAutoFit/>
          </a:bodyPr>
          <a:lstStyle/>
          <a:p>
            <a:pPr algn="l"/>
            <a:r>
              <a:rPr sz="1600" b="1" i="0">
                <a:solidFill>
                  <a:srgbClr val="FFFFFF"/>
                </a:solidFill>
                <a:latin typeface="Aptos"/>
              </a:rPr>
              <a:t>Pe ce date se poate măsura credibil?</a:t>
            </a:r>
          </a:p>
        </p:txBody>
      </p:sp>
      <p:sp>
        <p:nvSpPr>
          <p:cNvPr id="14" name="Rounded Rectangle 13"/>
          <p:cNvSpPr/>
          <p:nvPr/>
        </p:nvSpPr>
        <p:spPr>
          <a:xfrm>
            <a:off x="6172200" y="5047488"/>
            <a:ext cx="5358384" cy="932688"/>
          </a:xfrm>
          <a:prstGeom prst="roundRect">
            <a:avLst>
              <a:gd name="adj" fmla="val 13725"/>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047488"/>
            <a:ext cx="502920" cy="932688"/>
          </a:xfrm>
          <a:prstGeom prst="rect">
            <a:avLst/>
          </a:prstGeom>
          <a:noFill/>
        </p:spPr>
        <p:txBody>
          <a:bodyPr wrap="square" lIns="27432" rIns="27432" tIns="27432" bIns="27432" anchor="ctr">
            <a:spAutoFit/>
          </a:bodyPr>
          <a:lstStyle/>
          <a:p>
            <a:pPr algn="l"/>
            <a:r>
              <a:rPr sz="1500" b="1" i="0">
                <a:solidFill>
                  <a:srgbClr val="E1A83B"/>
                </a:solidFill>
                <a:latin typeface="Aptos"/>
              </a:rPr>
              <a:t>04</a:t>
            </a:r>
          </a:p>
        </p:txBody>
      </p:sp>
      <p:sp>
        <p:nvSpPr>
          <p:cNvPr id="16" name="TextBox 15"/>
          <p:cNvSpPr txBox="1"/>
          <p:nvPr/>
        </p:nvSpPr>
        <p:spPr>
          <a:xfrm>
            <a:off x="7059168" y="5047488"/>
            <a:ext cx="4224528" cy="932688"/>
          </a:xfrm>
          <a:prstGeom prst="rect">
            <a:avLst/>
          </a:prstGeom>
          <a:noFill/>
        </p:spPr>
        <p:txBody>
          <a:bodyPr wrap="square" lIns="27432" rIns="27432" tIns="27432" bIns="27432" anchor="ctr">
            <a:spAutoFit/>
          </a:bodyPr>
          <a:lstStyle/>
          <a:p>
            <a:pPr algn="l"/>
            <a:r>
              <a:rPr sz="1600" b="1" i="0">
                <a:solidFill>
                  <a:srgbClr val="FFFFFF"/>
                </a:solidFill>
                <a:latin typeface="Aptos"/>
              </a:rPr>
              <a:t>Cum se tratează întrebările ambigue?</a:t>
            </a:r>
          </a:p>
        </p:txBody>
      </p:sp>
      <p:sp>
        <p:nvSpPr>
          <p:cNvPr id="17" name="TextBox 16"/>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A8B6C4"/>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ÎNTREBAREA DE CERCETARE</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Trei moduri de a genera SQL</a:t>
            </a:r>
          </a:p>
        </p:txBody>
      </p:sp>
      <p:sp>
        <p:nvSpPr>
          <p:cNvPr id="4" name="TextBox 3"/>
          <p:cNvSpPr txBox="1"/>
          <p:nvPr/>
        </p:nvSpPr>
        <p:spPr>
          <a:xfrm>
            <a:off x="658368" y="1261872"/>
            <a:ext cx="8869680" cy="475488"/>
          </a:xfrm>
          <a:prstGeom prst="rect">
            <a:avLst/>
          </a:prstGeom>
          <a:noFill/>
        </p:spPr>
        <p:txBody>
          <a:bodyPr wrap="square" lIns="27432" rIns="27432" tIns="27432" bIns="27432" anchor="t">
            <a:spAutoFit/>
          </a:bodyPr>
          <a:lstStyle/>
          <a:p>
            <a:pPr algn="l"/>
            <a:r>
              <a:rPr sz="2300" b="1" i="0">
                <a:solidFill>
                  <a:srgbClr val="102A43"/>
                </a:solidFill>
                <a:latin typeface="Aptos"/>
              </a:rPr>
              <a:t>Ajută autonomia agentului sau doar adaugă complexitate?</a:t>
            </a:r>
          </a:p>
        </p:txBody>
      </p:sp>
      <p:sp>
        <p:nvSpPr>
          <p:cNvPr id="5" name="Rounded Rectangle 4"/>
          <p:cNvSpPr/>
          <p:nvPr/>
        </p:nvSpPr>
        <p:spPr>
          <a:xfrm>
            <a:off x="713232" y="2011680"/>
            <a:ext cx="3346704" cy="3127248"/>
          </a:xfrm>
          <a:prstGeom prst="roundRect">
            <a:avLst>
              <a:gd name="adj" fmla="val 4093"/>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7552" y="2276856"/>
            <a:ext cx="640080" cy="640080"/>
          </a:xfrm>
          <a:prstGeom prst="ellipse">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276856"/>
            <a:ext cx="640080" cy="640080"/>
          </a:xfrm>
          <a:prstGeom prst="rect">
            <a:avLst/>
          </a:prstGeom>
          <a:noFill/>
        </p:spPr>
        <p:txBody>
          <a:bodyPr wrap="square" lIns="27432" rIns="27432" tIns="27432" bIns="27432" anchor="ctr">
            <a:spAutoFit/>
          </a:bodyPr>
          <a:lstStyle/>
          <a:p>
            <a:pPr algn="ctr"/>
            <a:r>
              <a:rPr sz="2200" b="1" i="0">
                <a:solidFill>
                  <a:srgbClr val="FFFFFF"/>
                </a:solidFill>
                <a:latin typeface="Aptos"/>
              </a:rPr>
              <a:t>A</a:t>
            </a:r>
          </a:p>
        </p:txBody>
      </p:sp>
      <p:sp>
        <p:nvSpPr>
          <p:cNvPr id="8" name="Rounded Rectangle 7"/>
          <p:cNvSpPr/>
          <p:nvPr/>
        </p:nvSpPr>
        <p:spPr>
          <a:xfrm>
            <a:off x="1764792" y="2377440"/>
            <a:ext cx="1755648" cy="310896"/>
          </a:xfrm>
          <a:prstGeom prst="roundRect">
            <a:avLst>
              <a:gd name="adj" fmla="val 50000"/>
            </a:avLst>
          </a:prstGeom>
          <a:solidFill>
            <a:srgbClr val="E8F2FA"/>
          </a:solidFill>
          <a:ln w="12700">
            <a:solidFill>
              <a:srgbClr val="E8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64792" y="2386584"/>
            <a:ext cx="1755648" cy="256032"/>
          </a:xfrm>
          <a:prstGeom prst="rect">
            <a:avLst/>
          </a:prstGeom>
          <a:noFill/>
        </p:spPr>
        <p:txBody>
          <a:bodyPr wrap="square" lIns="27432" rIns="27432" tIns="27432" bIns="27432" anchor="ctr">
            <a:spAutoFit/>
          </a:bodyPr>
          <a:lstStyle/>
          <a:p>
            <a:pPr algn="ctr"/>
            <a:r>
              <a:rPr sz="1000" b="1" i="0">
                <a:solidFill>
                  <a:srgbClr val="1F6FB4"/>
                </a:solidFill>
                <a:latin typeface="Aptos"/>
              </a:rPr>
              <a:t>REPER CLOUD</a:t>
            </a:r>
          </a:p>
        </p:txBody>
      </p:sp>
      <p:sp>
        <p:nvSpPr>
          <p:cNvPr id="10" name="TextBox 9"/>
          <p:cNvSpPr txBox="1"/>
          <p:nvPr/>
        </p:nvSpPr>
        <p:spPr>
          <a:xfrm>
            <a:off x="1024128" y="3182112"/>
            <a:ext cx="2697480" cy="384048"/>
          </a:xfrm>
          <a:prstGeom prst="rect">
            <a:avLst/>
          </a:prstGeom>
          <a:noFill/>
        </p:spPr>
        <p:txBody>
          <a:bodyPr wrap="square" lIns="27432" rIns="27432" tIns="27432" bIns="27432" anchor="t">
            <a:spAutoFit/>
          </a:bodyPr>
          <a:lstStyle/>
          <a:p>
            <a:pPr algn="l"/>
            <a:r>
              <a:rPr sz="2000" b="1" i="0">
                <a:solidFill>
                  <a:srgbClr val="102A43"/>
                </a:solidFill>
                <a:latin typeface="Aptos"/>
              </a:rPr>
              <a:t>Apel unic</a:t>
            </a:r>
          </a:p>
        </p:txBody>
      </p:sp>
      <p:sp>
        <p:nvSpPr>
          <p:cNvPr id="11" name="TextBox 10"/>
          <p:cNvSpPr txBox="1"/>
          <p:nvPr/>
        </p:nvSpPr>
        <p:spPr>
          <a:xfrm>
            <a:off x="1024128" y="3749039"/>
            <a:ext cx="2697480" cy="713232"/>
          </a:xfrm>
          <a:prstGeom prst="rect">
            <a:avLst/>
          </a:prstGeom>
          <a:noFill/>
        </p:spPr>
        <p:txBody>
          <a:bodyPr wrap="square" lIns="27432" rIns="27432" tIns="27432" bIns="27432" anchor="t">
            <a:spAutoFit/>
          </a:bodyPr>
          <a:lstStyle/>
          <a:p>
            <a:pPr algn="l"/>
            <a:r>
              <a:rPr sz="1400" b="0" i="0">
                <a:solidFill>
                  <a:srgbClr val="647487"/>
                </a:solidFill>
                <a:latin typeface="Aptos"/>
              </a:rPr>
              <a:t>Schema completă în prompt
Un singur răspuns</a:t>
            </a:r>
          </a:p>
        </p:txBody>
      </p:sp>
      <p:sp>
        <p:nvSpPr>
          <p:cNvPr id="12" name="TextBox 11"/>
          <p:cNvSpPr txBox="1"/>
          <p:nvPr/>
        </p:nvSpPr>
        <p:spPr>
          <a:xfrm>
            <a:off x="1024128" y="4663440"/>
            <a:ext cx="2697480" cy="274320"/>
          </a:xfrm>
          <a:prstGeom prst="rect">
            <a:avLst/>
          </a:prstGeom>
          <a:noFill/>
        </p:spPr>
        <p:txBody>
          <a:bodyPr wrap="square" lIns="27432" rIns="27432" tIns="27432" bIns="27432" anchor="t">
            <a:spAutoFit/>
          </a:bodyPr>
          <a:lstStyle/>
          <a:p>
            <a:pPr algn="l"/>
            <a:r>
              <a:rPr sz="1300" b="1" i="0">
                <a:solidFill>
                  <a:srgbClr val="1F6FB4"/>
                </a:solidFill>
                <a:latin typeface="Aptos"/>
              </a:rPr>
              <a:t>→ SQL</a:t>
            </a:r>
          </a:p>
        </p:txBody>
      </p:sp>
      <p:sp>
        <p:nvSpPr>
          <p:cNvPr id="13" name="Rounded Rectangle 12"/>
          <p:cNvSpPr/>
          <p:nvPr/>
        </p:nvSpPr>
        <p:spPr>
          <a:xfrm>
            <a:off x="4535424" y="2011680"/>
            <a:ext cx="3346704" cy="3127248"/>
          </a:xfrm>
          <a:prstGeom prst="roundRect">
            <a:avLst>
              <a:gd name="adj" fmla="val 4093"/>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09744" y="2276856"/>
            <a:ext cx="640080" cy="640080"/>
          </a:xfrm>
          <a:prstGeom prst="ellipse">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9744" y="2276856"/>
            <a:ext cx="640080" cy="640080"/>
          </a:xfrm>
          <a:prstGeom prst="rect">
            <a:avLst/>
          </a:prstGeom>
          <a:noFill/>
        </p:spPr>
        <p:txBody>
          <a:bodyPr wrap="square" lIns="27432" rIns="27432" tIns="27432" bIns="27432" anchor="ctr">
            <a:spAutoFit/>
          </a:bodyPr>
          <a:lstStyle/>
          <a:p>
            <a:pPr algn="ctr"/>
            <a:r>
              <a:rPr sz="2200" b="1" i="0">
                <a:solidFill>
                  <a:srgbClr val="FFFFFF"/>
                </a:solidFill>
                <a:latin typeface="Aptos"/>
              </a:rPr>
              <a:t>B</a:t>
            </a:r>
          </a:p>
        </p:txBody>
      </p:sp>
      <p:sp>
        <p:nvSpPr>
          <p:cNvPr id="16" name="Rounded Rectangle 15"/>
          <p:cNvSpPr/>
          <p:nvPr/>
        </p:nvSpPr>
        <p:spPr>
          <a:xfrm>
            <a:off x="5586983" y="2377440"/>
            <a:ext cx="1755648" cy="310896"/>
          </a:xfrm>
          <a:prstGeom prst="roundRect">
            <a:avLst>
              <a:gd name="adj" fmla="val 50000"/>
            </a:avLst>
          </a:prstGeom>
          <a:solidFill>
            <a:srgbClr val="FAECE9"/>
          </a:solidFill>
          <a:ln w="12700">
            <a:solidFill>
              <a:srgbClr val="FA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86983" y="2386584"/>
            <a:ext cx="1755648" cy="256032"/>
          </a:xfrm>
          <a:prstGeom prst="rect">
            <a:avLst/>
          </a:prstGeom>
          <a:noFill/>
        </p:spPr>
        <p:txBody>
          <a:bodyPr wrap="square" lIns="27432" rIns="27432" tIns="27432" bIns="27432" anchor="ctr">
            <a:spAutoFit/>
          </a:bodyPr>
          <a:lstStyle/>
          <a:p>
            <a:pPr algn="ctr"/>
            <a:r>
              <a:rPr sz="1000" b="1" i="0">
                <a:solidFill>
                  <a:srgbClr val="C1483A"/>
                </a:solidFill>
                <a:latin typeface="Aptos"/>
              </a:rPr>
              <a:t>CONFIGURAȚIA STUDIATĂ</a:t>
            </a:r>
          </a:p>
        </p:txBody>
      </p:sp>
      <p:sp>
        <p:nvSpPr>
          <p:cNvPr id="18" name="TextBox 17"/>
          <p:cNvSpPr txBox="1"/>
          <p:nvPr/>
        </p:nvSpPr>
        <p:spPr>
          <a:xfrm>
            <a:off x="4846320" y="3182112"/>
            <a:ext cx="2697480" cy="384048"/>
          </a:xfrm>
          <a:prstGeom prst="rect">
            <a:avLst/>
          </a:prstGeom>
          <a:noFill/>
        </p:spPr>
        <p:txBody>
          <a:bodyPr wrap="square" lIns="27432" rIns="27432" tIns="27432" bIns="27432" anchor="t">
            <a:spAutoFit/>
          </a:bodyPr>
          <a:lstStyle/>
          <a:p>
            <a:pPr algn="l"/>
            <a:r>
              <a:rPr sz="2000" b="1" i="0">
                <a:solidFill>
                  <a:srgbClr val="102A43"/>
                </a:solidFill>
                <a:latin typeface="Aptos"/>
              </a:rPr>
              <a:t>Agent MCP</a:t>
            </a:r>
          </a:p>
        </p:txBody>
      </p:sp>
      <p:sp>
        <p:nvSpPr>
          <p:cNvPr id="19" name="TextBox 18"/>
          <p:cNvSpPr txBox="1"/>
          <p:nvPr/>
        </p:nvSpPr>
        <p:spPr>
          <a:xfrm>
            <a:off x="4846320" y="3749039"/>
            <a:ext cx="2697480" cy="713232"/>
          </a:xfrm>
          <a:prstGeom prst="rect">
            <a:avLst/>
          </a:prstGeom>
          <a:noFill/>
        </p:spPr>
        <p:txBody>
          <a:bodyPr wrap="square" lIns="27432" rIns="27432" tIns="27432" bIns="27432" anchor="t">
            <a:spAutoFit/>
          </a:bodyPr>
          <a:lstStyle/>
          <a:p>
            <a:pPr algn="l"/>
            <a:r>
              <a:rPr sz="1400" b="0" i="0">
                <a:solidFill>
                  <a:srgbClr val="647487"/>
                </a:solidFill>
                <a:latin typeface="Aptos"/>
              </a:rPr>
              <a:t>Fără schemă inițială
Explorare prin unelte</a:t>
            </a:r>
          </a:p>
        </p:txBody>
      </p:sp>
      <p:sp>
        <p:nvSpPr>
          <p:cNvPr id="20" name="TextBox 19"/>
          <p:cNvSpPr txBox="1"/>
          <p:nvPr/>
        </p:nvSpPr>
        <p:spPr>
          <a:xfrm>
            <a:off x="4846320" y="4663440"/>
            <a:ext cx="2697480" cy="274320"/>
          </a:xfrm>
          <a:prstGeom prst="rect">
            <a:avLst/>
          </a:prstGeom>
          <a:noFill/>
        </p:spPr>
        <p:txBody>
          <a:bodyPr wrap="square" lIns="27432" rIns="27432" tIns="27432" bIns="27432" anchor="t">
            <a:spAutoFit/>
          </a:bodyPr>
          <a:lstStyle/>
          <a:p>
            <a:pPr algn="l"/>
            <a:r>
              <a:rPr sz="1300" b="1" i="0">
                <a:solidFill>
                  <a:srgbClr val="C1483A"/>
                </a:solidFill>
                <a:latin typeface="Aptos"/>
              </a:rPr>
              <a:t>→ SQL</a:t>
            </a:r>
          </a:p>
        </p:txBody>
      </p:sp>
      <p:sp>
        <p:nvSpPr>
          <p:cNvPr id="21" name="Rounded Rectangle 20"/>
          <p:cNvSpPr/>
          <p:nvPr/>
        </p:nvSpPr>
        <p:spPr>
          <a:xfrm>
            <a:off x="8357615" y="2011680"/>
            <a:ext cx="3346704" cy="3127248"/>
          </a:xfrm>
          <a:prstGeom prst="roundRect">
            <a:avLst>
              <a:gd name="adj" fmla="val 4093"/>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31936" y="2276856"/>
            <a:ext cx="640080" cy="640080"/>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31936" y="2276856"/>
            <a:ext cx="640080" cy="640080"/>
          </a:xfrm>
          <a:prstGeom prst="rect">
            <a:avLst/>
          </a:prstGeom>
          <a:noFill/>
        </p:spPr>
        <p:txBody>
          <a:bodyPr wrap="square" lIns="27432" rIns="27432" tIns="27432" bIns="27432" anchor="ctr">
            <a:spAutoFit/>
          </a:bodyPr>
          <a:lstStyle/>
          <a:p>
            <a:pPr algn="ctr"/>
            <a:r>
              <a:rPr sz="2200" b="1" i="0">
                <a:solidFill>
                  <a:srgbClr val="FFFFFF"/>
                </a:solidFill>
                <a:latin typeface="Aptos"/>
              </a:rPr>
              <a:t>C</a:t>
            </a:r>
          </a:p>
        </p:txBody>
      </p:sp>
      <p:sp>
        <p:nvSpPr>
          <p:cNvPr id="24" name="Rounded Rectangle 23"/>
          <p:cNvSpPr/>
          <p:nvPr/>
        </p:nvSpPr>
        <p:spPr>
          <a:xfrm>
            <a:off x="9409176" y="2377440"/>
            <a:ext cx="1755648" cy="310896"/>
          </a:xfrm>
          <a:prstGeom prst="roundRect">
            <a:avLst>
              <a:gd name="adj" fmla="val 50000"/>
            </a:avLst>
          </a:prstGeom>
          <a:solidFill>
            <a:srgbClr val="E8F5EE"/>
          </a:solidFill>
          <a:ln w="12700">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9176" y="2386584"/>
            <a:ext cx="1755648" cy="256032"/>
          </a:xfrm>
          <a:prstGeom prst="rect">
            <a:avLst/>
          </a:prstGeom>
          <a:noFill/>
        </p:spPr>
        <p:txBody>
          <a:bodyPr wrap="square" lIns="27432" rIns="27432" tIns="27432" bIns="27432" anchor="ctr">
            <a:spAutoFit/>
          </a:bodyPr>
          <a:lstStyle/>
          <a:p>
            <a:pPr algn="ctr"/>
            <a:r>
              <a:rPr sz="1000" b="1" i="0">
                <a:solidFill>
                  <a:srgbClr val="2E8B57"/>
                </a:solidFill>
                <a:latin typeface="Aptos"/>
              </a:rPr>
              <a:t>REPER LOCAL</a:t>
            </a:r>
          </a:p>
        </p:txBody>
      </p:sp>
      <p:sp>
        <p:nvSpPr>
          <p:cNvPr id="26" name="TextBox 25"/>
          <p:cNvSpPr txBox="1"/>
          <p:nvPr/>
        </p:nvSpPr>
        <p:spPr>
          <a:xfrm>
            <a:off x="8668511" y="3182112"/>
            <a:ext cx="2697480" cy="384048"/>
          </a:xfrm>
          <a:prstGeom prst="rect">
            <a:avLst/>
          </a:prstGeom>
          <a:noFill/>
        </p:spPr>
        <p:txBody>
          <a:bodyPr wrap="square" lIns="27432" rIns="27432" tIns="27432" bIns="27432" anchor="t">
            <a:spAutoFit/>
          </a:bodyPr>
          <a:lstStyle/>
          <a:p>
            <a:pPr algn="l"/>
            <a:r>
              <a:rPr sz="2000" b="1" i="0">
                <a:solidFill>
                  <a:srgbClr val="102A43"/>
                </a:solidFill>
                <a:latin typeface="Aptos"/>
              </a:rPr>
              <a:t>Model local</a:t>
            </a:r>
          </a:p>
        </p:txBody>
      </p:sp>
      <p:sp>
        <p:nvSpPr>
          <p:cNvPr id="27" name="TextBox 26"/>
          <p:cNvSpPr txBox="1"/>
          <p:nvPr/>
        </p:nvSpPr>
        <p:spPr>
          <a:xfrm>
            <a:off x="8668511" y="3749039"/>
            <a:ext cx="2697480" cy="713232"/>
          </a:xfrm>
          <a:prstGeom prst="rect">
            <a:avLst/>
          </a:prstGeom>
          <a:noFill/>
        </p:spPr>
        <p:txBody>
          <a:bodyPr wrap="square" lIns="27432" rIns="27432" tIns="27432" bIns="27432" anchor="t">
            <a:spAutoFit/>
          </a:bodyPr>
          <a:lstStyle/>
          <a:p>
            <a:pPr algn="l"/>
            <a:r>
              <a:rPr sz="1400" b="0" i="0">
                <a:solidFill>
                  <a:srgbClr val="647487"/>
                </a:solidFill>
                <a:latin typeface="Aptos"/>
              </a:rPr>
              <a:t>Același prompt ca A
Rulare pe GPU personal</a:t>
            </a:r>
          </a:p>
        </p:txBody>
      </p:sp>
      <p:sp>
        <p:nvSpPr>
          <p:cNvPr id="28" name="TextBox 27"/>
          <p:cNvSpPr txBox="1"/>
          <p:nvPr/>
        </p:nvSpPr>
        <p:spPr>
          <a:xfrm>
            <a:off x="8668511" y="4663440"/>
            <a:ext cx="2697480" cy="274320"/>
          </a:xfrm>
          <a:prstGeom prst="rect">
            <a:avLst/>
          </a:prstGeom>
          <a:noFill/>
        </p:spPr>
        <p:txBody>
          <a:bodyPr wrap="square" lIns="27432" rIns="27432" tIns="27432" bIns="27432" anchor="t">
            <a:spAutoFit/>
          </a:bodyPr>
          <a:lstStyle/>
          <a:p>
            <a:pPr algn="l"/>
            <a:r>
              <a:rPr sz="1300" b="1" i="0">
                <a:solidFill>
                  <a:srgbClr val="2E8B57"/>
                </a:solidFill>
                <a:latin typeface="Aptos"/>
              </a:rPr>
              <a:t>→ SQL</a:t>
            </a:r>
          </a:p>
        </p:txBody>
      </p:sp>
      <p:sp>
        <p:nvSpPr>
          <p:cNvPr id="29" name="TextBox 28"/>
          <p:cNvSpPr txBox="1"/>
          <p:nvPr/>
        </p:nvSpPr>
        <p:spPr>
          <a:xfrm>
            <a:off x="2084831" y="5715000"/>
            <a:ext cx="8010144" cy="347472"/>
          </a:xfrm>
          <a:prstGeom prst="rect">
            <a:avLst/>
          </a:prstGeom>
          <a:noFill/>
        </p:spPr>
        <p:txBody>
          <a:bodyPr wrap="square" lIns="27432" rIns="27432" tIns="27432" bIns="27432" anchor="t">
            <a:spAutoFit/>
          </a:bodyPr>
          <a:lstStyle/>
          <a:p>
            <a:pPr algn="ctr"/>
            <a:r>
              <a:rPr sz="1700" b="1" i="0">
                <a:solidFill>
                  <a:srgbClr val="102A43"/>
                </a:solidFill>
                <a:latin typeface="Aptos"/>
              </a:rPr>
              <a:t>Între configurațiile comparate se modifică o singură variabilă.</a:t>
            </a:r>
          </a:p>
        </p:txBody>
      </p:sp>
      <p:sp>
        <p:nvSpPr>
          <p:cNvPr id="30" name="TextBox 29"/>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METODĂ</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Corectitudinea se măsoară prin execuție</a:t>
            </a:r>
          </a:p>
        </p:txBody>
      </p:sp>
      <p:sp>
        <p:nvSpPr>
          <p:cNvPr id="4" name="Rounded Rectangle 3"/>
          <p:cNvSpPr/>
          <p:nvPr/>
        </p:nvSpPr>
        <p:spPr>
          <a:xfrm>
            <a:off x="640080" y="1280160"/>
            <a:ext cx="6949440" cy="4526280"/>
          </a:xfrm>
          <a:prstGeom prst="roundRect">
            <a:avLst>
              <a:gd name="adj" fmla="val 2828"/>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harness.png"/>
          <p:cNvPicPr>
            <a:picLocks noChangeAspect="1"/>
          </p:cNvPicPr>
          <p:nvPr/>
        </p:nvPicPr>
        <p:blipFill>
          <a:blip r:embed="rId2"/>
          <a:stretch>
            <a:fillRect/>
          </a:stretch>
        </p:blipFill>
        <p:spPr>
          <a:xfrm>
            <a:off x="1098566" y="1408176"/>
            <a:ext cx="6032467" cy="4270248"/>
          </a:xfrm>
          <a:prstGeom prst="rect">
            <a:avLst/>
          </a:prstGeom>
        </p:spPr>
      </p:pic>
      <p:sp>
        <p:nvSpPr>
          <p:cNvPr id="6" name="Rounded Rectangle 5"/>
          <p:cNvSpPr/>
          <p:nvPr/>
        </p:nvSpPr>
        <p:spPr>
          <a:xfrm>
            <a:off x="7918704" y="1426464"/>
            <a:ext cx="1508760" cy="1188720"/>
          </a:xfrm>
          <a:prstGeom prst="roundRect">
            <a:avLst>
              <a:gd name="adj" fmla="val 10769"/>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18704" y="1600200"/>
            <a:ext cx="1508760" cy="457200"/>
          </a:xfrm>
          <a:prstGeom prst="rect">
            <a:avLst/>
          </a:prstGeom>
          <a:noFill/>
        </p:spPr>
        <p:txBody>
          <a:bodyPr wrap="square" lIns="27432" rIns="27432" tIns="27432" bIns="27432" anchor="t">
            <a:spAutoFit/>
          </a:bodyPr>
          <a:lstStyle/>
          <a:p>
            <a:pPr algn="ctr"/>
            <a:r>
              <a:rPr sz="2500" b="1" i="0">
                <a:solidFill>
                  <a:srgbClr val="102A43"/>
                </a:solidFill>
                <a:latin typeface="Aptos"/>
              </a:rPr>
              <a:t>18</a:t>
            </a:r>
          </a:p>
        </p:txBody>
      </p:sp>
      <p:sp>
        <p:nvSpPr>
          <p:cNvPr id="8" name="TextBox 7"/>
          <p:cNvSpPr txBox="1"/>
          <p:nvPr/>
        </p:nvSpPr>
        <p:spPr>
          <a:xfrm>
            <a:off x="8028431" y="2139696"/>
            <a:ext cx="1289304" cy="265176"/>
          </a:xfrm>
          <a:prstGeom prst="rect">
            <a:avLst/>
          </a:prstGeom>
          <a:noFill/>
        </p:spPr>
        <p:txBody>
          <a:bodyPr wrap="square" lIns="27432" rIns="27432" tIns="27432" bIns="27432" anchor="t">
            <a:spAutoFit/>
          </a:bodyPr>
          <a:lstStyle/>
          <a:p>
            <a:pPr algn="ctr"/>
            <a:r>
              <a:rPr sz="1050" b="1" i="0">
                <a:solidFill>
                  <a:srgbClr val="647487"/>
                </a:solidFill>
                <a:latin typeface="Aptos"/>
              </a:rPr>
              <a:t>sisteme</a:t>
            </a:r>
          </a:p>
        </p:txBody>
      </p:sp>
      <p:sp>
        <p:nvSpPr>
          <p:cNvPr id="9" name="Rounded Rectangle 8"/>
          <p:cNvSpPr/>
          <p:nvPr/>
        </p:nvSpPr>
        <p:spPr>
          <a:xfrm>
            <a:off x="9674352" y="1426464"/>
            <a:ext cx="1508760" cy="1188720"/>
          </a:xfrm>
          <a:prstGeom prst="roundRect">
            <a:avLst>
              <a:gd name="adj" fmla="val 10769"/>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74352" y="1600200"/>
            <a:ext cx="1508760" cy="457200"/>
          </a:xfrm>
          <a:prstGeom prst="rect">
            <a:avLst/>
          </a:prstGeom>
          <a:noFill/>
        </p:spPr>
        <p:txBody>
          <a:bodyPr wrap="square" lIns="27432" rIns="27432" tIns="27432" bIns="27432" anchor="t">
            <a:spAutoFit/>
          </a:bodyPr>
          <a:lstStyle/>
          <a:p>
            <a:pPr algn="ctr"/>
            <a:r>
              <a:rPr sz="2500" b="1" i="0">
                <a:solidFill>
                  <a:srgbClr val="102A43"/>
                </a:solidFill>
                <a:latin typeface="Aptos"/>
              </a:rPr>
              <a:t>3</a:t>
            </a:r>
          </a:p>
        </p:txBody>
      </p:sp>
      <p:sp>
        <p:nvSpPr>
          <p:cNvPr id="11" name="TextBox 10"/>
          <p:cNvSpPr txBox="1"/>
          <p:nvPr/>
        </p:nvSpPr>
        <p:spPr>
          <a:xfrm>
            <a:off x="9784080" y="2139696"/>
            <a:ext cx="1289304" cy="265176"/>
          </a:xfrm>
          <a:prstGeom prst="rect">
            <a:avLst/>
          </a:prstGeom>
          <a:noFill/>
        </p:spPr>
        <p:txBody>
          <a:bodyPr wrap="square" lIns="27432" rIns="27432" tIns="27432" bIns="27432" anchor="t">
            <a:spAutoFit/>
          </a:bodyPr>
          <a:lstStyle/>
          <a:p>
            <a:pPr algn="ctr"/>
            <a:r>
              <a:rPr sz="1050" b="1" i="0">
                <a:solidFill>
                  <a:srgbClr val="647487"/>
                </a:solidFill>
                <a:latin typeface="Aptos"/>
              </a:rPr>
              <a:t>baze de date</a:t>
            </a:r>
          </a:p>
        </p:txBody>
      </p:sp>
      <p:sp>
        <p:nvSpPr>
          <p:cNvPr id="12" name="Rounded Rectangle 11"/>
          <p:cNvSpPr/>
          <p:nvPr/>
        </p:nvSpPr>
        <p:spPr>
          <a:xfrm>
            <a:off x="7918704" y="2916936"/>
            <a:ext cx="1508760" cy="1188720"/>
          </a:xfrm>
          <a:prstGeom prst="roundRect">
            <a:avLst>
              <a:gd name="adj" fmla="val 10769"/>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18704" y="3090672"/>
            <a:ext cx="1508760" cy="457200"/>
          </a:xfrm>
          <a:prstGeom prst="rect">
            <a:avLst/>
          </a:prstGeom>
          <a:noFill/>
        </p:spPr>
        <p:txBody>
          <a:bodyPr wrap="square" lIns="27432" rIns="27432" tIns="27432" bIns="27432" anchor="t">
            <a:spAutoFit/>
          </a:bodyPr>
          <a:lstStyle/>
          <a:p>
            <a:pPr algn="ctr"/>
            <a:r>
              <a:rPr sz="2500" b="1" i="0">
                <a:solidFill>
                  <a:srgbClr val="102A43"/>
                </a:solidFill>
                <a:latin typeface="Aptos"/>
              </a:rPr>
              <a:t>93</a:t>
            </a:r>
          </a:p>
        </p:txBody>
      </p:sp>
      <p:sp>
        <p:nvSpPr>
          <p:cNvPr id="14" name="TextBox 13"/>
          <p:cNvSpPr txBox="1"/>
          <p:nvPr/>
        </p:nvSpPr>
        <p:spPr>
          <a:xfrm>
            <a:off x="8028431" y="3630168"/>
            <a:ext cx="1289304" cy="265176"/>
          </a:xfrm>
          <a:prstGeom prst="rect">
            <a:avLst/>
          </a:prstGeom>
          <a:noFill/>
        </p:spPr>
        <p:txBody>
          <a:bodyPr wrap="square" lIns="27432" rIns="27432" tIns="27432" bIns="27432" anchor="t">
            <a:spAutoFit/>
          </a:bodyPr>
          <a:lstStyle/>
          <a:p>
            <a:pPr algn="ctr"/>
            <a:r>
              <a:rPr sz="1050" b="1" i="0">
                <a:solidFill>
                  <a:srgbClr val="647487"/>
                </a:solidFill>
                <a:latin typeface="Aptos"/>
              </a:rPr>
              <a:t>întrebări proprii</a:t>
            </a:r>
          </a:p>
        </p:txBody>
      </p:sp>
      <p:sp>
        <p:nvSpPr>
          <p:cNvPr id="15" name="Rounded Rectangle 14"/>
          <p:cNvSpPr/>
          <p:nvPr/>
        </p:nvSpPr>
        <p:spPr>
          <a:xfrm>
            <a:off x="9674352" y="2916936"/>
            <a:ext cx="1508760" cy="1188720"/>
          </a:xfrm>
          <a:prstGeom prst="roundRect">
            <a:avLst>
              <a:gd name="adj" fmla="val 10769"/>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4352" y="3090672"/>
            <a:ext cx="1508760" cy="457200"/>
          </a:xfrm>
          <a:prstGeom prst="rect">
            <a:avLst/>
          </a:prstGeom>
          <a:noFill/>
        </p:spPr>
        <p:txBody>
          <a:bodyPr wrap="square" lIns="27432" rIns="27432" tIns="27432" bIns="27432" anchor="t">
            <a:spAutoFit/>
          </a:bodyPr>
          <a:lstStyle/>
          <a:p>
            <a:pPr algn="ctr"/>
            <a:r>
              <a:rPr sz="2500" b="1" i="0">
                <a:solidFill>
                  <a:srgbClr val="102A43"/>
                </a:solidFill>
                <a:latin typeface="Aptos"/>
              </a:rPr>
              <a:t>1.534</a:t>
            </a:r>
          </a:p>
        </p:txBody>
      </p:sp>
      <p:sp>
        <p:nvSpPr>
          <p:cNvPr id="17" name="TextBox 16"/>
          <p:cNvSpPr txBox="1"/>
          <p:nvPr/>
        </p:nvSpPr>
        <p:spPr>
          <a:xfrm>
            <a:off x="9784080" y="3630168"/>
            <a:ext cx="1289304" cy="265176"/>
          </a:xfrm>
          <a:prstGeom prst="rect">
            <a:avLst/>
          </a:prstGeom>
          <a:noFill/>
        </p:spPr>
        <p:txBody>
          <a:bodyPr wrap="square" lIns="27432" rIns="27432" tIns="27432" bIns="27432" anchor="t">
            <a:spAutoFit/>
          </a:bodyPr>
          <a:lstStyle/>
          <a:p>
            <a:pPr algn="ctr"/>
            <a:r>
              <a:rPr sz="1050" b="1" i="0">
                <a:solidFill>
                  <a:srgbClr val="647487"/>
                </a:solidFill>
                <a:latin typeface="Aptos"/>
              </a:rPr>
              <a:t>întrebări BIRD-SQL</a:t>
            </a:r>
          </a:p>
        </p:txBody>
      </p:sp>
      <p:sp>
        <p:nvSpPr>
          <p:cNvPr id="18" name="Rounded Rectangle 17"/>
          <p:cNvSpPr/>
          <p:nvPr/>
        </p:nvSpPr>
        <p:spPr>
          <a:xfrm>
            <a:off x="7918704" y="4663440"/>
            <a:ext cx="3264408" cy="1024128"/>
          </a:xfrm>
          <a:prstGeom prst="roundRect">
            <a:avLst>
              <a:gd name="adj" fmla="val 12500"/>
            </a:avLst>
          </a:prstGeom>
          <a:solidFill>
            <a:srgbClr val="E8F2FA"/>
          </a:solidFill>
          <a:ln w="12700">
            <a:solidFill>
              <a:srgbClr val="E8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5592" y="4901184"/>
            <a:ext cx="2770632" cy="548640"/>
          </a:xfrm>
          <a:prstGeom prst="rect">
            <a:avLst/>
          </a:prstGeom>
          <a:noFill/>
        </p:spPr>
        <p:txBody>
          <a:bodyPr wrap="square" lIns="27432" rIns="27432" tIns="27432" bIns="27432" anchor="t">
            <a:spAutoFit/>
          </a:bodyPr>
          <a:lstStyle/>
          <a:p>
            <a:pPr algn="ctr"/>
            <a:r>
              <a:rPr sz="1500" b="1" i="0">
                <a:solidFill>
                  <a:srgbClr val="1F6FB4"/>
                </a:solidFill>
                <a:latin typeface="Aptos"/>
              </a:rPr>
              <a:t>Nu comparăm textul SQL.
Comparăm rezultatele obținute.</a:t>
            </a:r>
          </a:p>
        </p:txBody>
      </p:sp>
      <p:sp>
        <p:nvSpPr>
          <p:cNvPr id="20" name="TextBox 19"/>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Baze: car_rental, AdventureWorks și BIRD-SQL dev</a:t>
            </a:r>
          </a:p>
        </p:txBody>
      </p:sp>
      <p:sp>
        <p:nvSpPr>
          <p:cNvPr id="21" name="TextBox 20"/>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DATELE DE EVALUARE</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Trei seturi, două tipuri de dificultate</a:t>
            </a:r>
          </a:p>
        </p:txBody>
      </p:sp>
      <p:sp>
        <p:nvSpPr>
          <p:cNvPr id="4" name="TextBox 3"/>
          <p:cNvSpPr txBox="1"/>
          <p:nvPr/>
        </p:nvSpPr>
        <p:spPr>
          <a:xfrm>
            <a:off x="658368" y="1335024"/>
            <a:ext cx="8778240" cy="274320"/>
          </a:xfrm>
          <a:prstGeom prst="rect">
            <a:avLst/>
          </a:prstGeom>
          <a:noFill/>
        </p:spPr>
        <p:txBody>
          <a:bodyPr wrap="square" lIns="27432" rIns="27432" tIns="27432" bIns="27432" anchor="t">
            <a:spAutoFit/>
          </a:bodyPr>
          <a:lstStyle/>
          <a:p>
            <a:pPr algn="l"/>
            <a:r>
              <a:rPr sz="1400" b="1" i="0">
                <a:solidFill>
                  <a:srgbClr val="647487"/>
                </a:solidFill>
                <a:latin typeface="Aptos"/>
              </a:rPr>
              <a:t>Aceeași configurație A, același prompt. Se schimbă doar baza de date.</a:t>
            </a:r>
          </a:p>
        </p:txBody>
      </p:sp>
      <p:sp>
        <p:nvSpPr>
          <p:cNvPr id="5" name="Rounded Rectangle 4"/>
          <p:cNvSpPr/>
          <p:nvPr/>
        </p:nvSpPr>
        <p:spPr>
          <a:xfrm>
            <a:off x="658368" y="1700784"/>
            <a:ext cx="3529584" cy="3602736"/>
          </a:xfrm>
          <a:prstGeom prst="roundRect">
            <a:avLst>
              <a:gd name="adj" fmla="val 362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73152" cy="3346704"/>
          </a:xfrm>
          <a:prstGeom prst="rect">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865376"/>
            <a:ext cx="3017520" cy="274320"/>
          </a:xfrm>
          <a:prstGeom prst="rect">
            <a:avLst/>
          </a:prstGeom>
          <a:noFill/>
        </p:spPr>
        <p:txBody>
          <a:bodyPr wrap="square" lIns="27432" rIns="27432" tIns="27432" bIns="27432" anchor="t">
            <a:spAutoFit/>
          </a:bodyPr>
          <a:lstStyle/>
          <a:p>
            <a:pPr algn="l"/>
            <a:r>
              <a:rPr sz="1500" b="1" i="0">
                <a:solidFill>
                  <a:srgbClr val="102A43"/>
                </a:solidFill>
                <a:latin typeface="Consolas"/>
              </a:rPr>
              <a:t>car_rental</a:t>
            </a:r>
          </a:p>
        </p:txBody>
      </p:sp>
      <p:sp>
        <p:nvSpPr>
          <p:cNvPr id="8" name="TextBox 7"/>
          <p:cNvSpPr txBox="1"/>
          <p:nvPr/>
        </p:nvSpPr>
        <p:spPr>
          <a:xfrm>
            <a:off x="950976" y="2176272"/>
            <a:ext cx="3017520" cy="219456"/>
          </a:xfrm>
          <a:prstGeom prst="rect">
            <a:avLst/>
          </a:prstGeom>
          <a:noFill/>
        </p:spPr>
        <p:txBody>
          <a:bodyPr wrap="square" lIns="27432" rIns="27432" tIns="27432" bIns="27432" anchor="t">
            <a:spAutoFit/>
          </a:bodyPr>
          <a:lstStyle/>
          <a:p>
            <a:pPr algn="l"/>
            <a:r>
              <a:rPr sz="1050" b="1" i="0">
                <a:solidFill>
                  <a:srgbClr val="1F6FB4"/>
                </a:solidFill>
                <a:latin typeface="Aptos"/>
              </a:rPr>
              <a:t>elaborată de autor</a:t>
            </a:r>
          </a:p>
        </p:txBody>
      </p:sp>
      <p:sp>
        <p:nvSpPr>
          <p:cNvPr id="9" name="TextBox 8"/>
          <p:cNvSpPr txBox="1"/>
          <p:nvPr/>
        </p:nvSpPr>
        <p:spPr>
          <a:xfrm>
            <a:off x="950976" y="2468880"/>
            <a:ext cx="3072384" cy="219456"/>
          </a:xfrm>
          <a:prstGeom prst="rect">
            <a:avLst/>
          </a:prstGeom>
          <a:noFill/>
        </p:spPr>
        <p:txBody>
          <a:bodyPr wrap="square" lIns="27432" rIns="27432" tIns="27432" bIns="27432" anchor="t">
            <a:spAutoFit/>
          </a:bodyPr>
          <a:lstStyle/>
          <a:p>
            <a:pPr algn="l"/>
            <a:r>
              <a:rPr sz="1100" b="0" i="0">
                <a:solidFill>
                  <a:srgbClr val="17212B"/>
                </a:solidFill>
                <a:latin typeface="Aptos"/>
              </a:rPr>
              <a:t>9 tabele · 8.026 rânduri</a:t>
            </a:r>
          </a:p>
        </p:txBody>
      </p:sp>
      <p:sp>
        <p:nvSpPr>
          <p:cNvPr id="10" name="TextBox 9"/>
          <p:cNvSpPr txBox="1"/>
          <p:nvPr/>
        </p:nvSpPr>
        <p:spPr>
          <a:xfrm>
            <a:off x="950976" y="2706624"/>
            <a:ext cx="3072384" cy="219456"/>
          </a:xfrm>
          <a:prstGeom prst="rect">
            <a:avLst/>
          </a:prstGeom>
          <a:noFill/>
        </p:spPr>
        <p:txBody>
          <a:bodyPr wrap="square" lIns="27432" rIns="27432" tIns="27432" bIns="27432" anchor="t">
            <a:spAutoFit/>
          </a:bodyPr>
          <a:lstStyle/>
          <a:p>
            <a:pPr algn="l"/>
            <a:r>
              <a:rPr sz="1100" b="0" i="0">
                <a:solidFill>
                  <a:srgbClr val="17212B"/>
                </a:solidFill>
                <a:latin typeface="Aptos"/>
              </a:rPr>
              <a:t>51 de întrebări · autor propriu</a:t>
            </a:r>
          </a:p>
        </p:txBody>
      </p:sp>
      <p:sp>
        <p:nvSpPr>
          <p:cNvPr id="11" name="TextBox 10"/>
          <p:cNvSpPr txBox="1"/>
          <p:nvPr/>
        </p:nvSpPr>
        <p:spPr>
          <a:xfrm>
            <a:off x="950976" y="3035808"/>
            <a:ext cx="3017520" cy="182880"/>
          </a:xfrm>
          <a:prstGeom prst="rect">
            <a:avLst/>
          </a:prstGeom>
          <a:noFill/>
        </p:spPr>
        <p:txBody>
          <a:bodyPr wrap="square" lIns="27432" rIns="27432" tIns="27432" bIns="27432" anchor="t">
            <a:spAutoFit/>
          </a:bodyPr>
          <a:lstStyle/>
          <a:p>
            <a:pPr algn="l"/>
            <a:r>
              <a:rPr sz="850" b="1" i="0">
                <a:solidFill>
                  <a:srgbClr val="647487"/>
                </a:solidFill>
                <a:latin typeface="Aptos"/>
              </a:rPr>
              <a:t>ÎNTREBARE DIFICILĂ DIN SET</a:t>
            </a:r>
          </a:p>
        </p:txBody>
      </p:sp>
      <p:sp>
        <p:nvSpPr>
          <p:cNvPr id="12" name="Rounded Rectangle 11"/>
          <p:cNvSpPr/>
          <p:nvPr/>
        </p:nvSpPr>
        <p:spPr>
          <a:xfrm>
            <a:off x="932688" y="3255264"/>
            <a:ext cx="3108960" cy="1463040"/>
          </a:xfrm>
          <a:prstGeom prst="roundRect">
            <a:avLst>
              <a:gd name="adj" fmla="val 8750"/>
            </a:avLst>
          </a:prstGeom>
          <a:solidFill>
            <a:srgbClr val="E8F2FA"/>
          </a:solidFill>
          <a:ln w="12700">
            <a:solidFill>
              <a:srgbClr val="E8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3346704"/>
            <a:ext cx="2852928" cy="1280160"/>
          </a:xfrm>
          <a:prstGeom prst="rect">
            <a:avLst/>
          </a:prstGeom>
          <a:noFill/>
        </p:spPr>
        <p:txBody>
          <a:bodyPr wrap="square" lIns="27432" rIns="27432" tIns="27432" bIns="27432" anchor="t">
            <a:spAutoFit/>
          </a:bodyPr>
          <a:lstStyle/>
          <a:p>
            <a:pPr algn="l"/>
            <a:r>
              <a:rPr sz="950" b="0" i="1">
                <a:solidFill>
                  <a:srgbClr val="17212B"/>
                </a:solidFill>
                <a:latin typeface="Aptos"/>
              </a:rPr>
              <a:t>„What is the longest run of consecutive calendar days on which at least one reservation was picked up at the Downtown Hub branch?”</a:t>
            </a:r>
          </a:p>
        </p:txBody>
      </p:sp>
      <p:sp>
        <p:nvSpPr>
          <p:cNvPr id="14" name="TextBox 13"/>
          <p:cNvSpPr txBox="1"/>
          <p:nvPr/>
        </p:nvSpPr>
        <p:spPr>
          <a:xfrm>
            <a:off x="950976" y="4754880"/>
            <a:ext cx="3017520" cy="438912"/>
          </a:xfrm>
          <a:prstGeom prst="rect">
            <a:avLst/>
          </a:prstGeom>
          <a:noFill/>
        </p:spPr>
        <p:txBody>
          <a:bodyPr wrap="square" lIns="27432" rIns="27432" tIns="27432" bIns="27432" anchor="t">
            <a:spAutoFit/>
          </a:bodyPr>
          <a:lstStyle/>
          <a:p>
            <a:pPr algn="l"/>
            <a:r>
              <a:rPr sz="2400" b="1" i="0">
                <a:solidFill>
                  <a:srgbClr val="1F6FB4"/>
                </a:solidFill>
                <a:latin typeface="Aptos"/>
              </a:rPr>
              <a:t>100 %</a:t>
            </a:r>
          </a:p>
        </p:txBody>
      </p:sp>
      <p:sp>
        <p:nvSpPr>
          <p:cNvPr id="15" name="TextBox 14"/>
          <p:cNvSpPr txBox="1"/>
          <p:nvPr/>
        </p:nvSpPr>
        <p:spPr>
          <a:xfrm>
            <a:off x="950976" y="5102352"/>
            <a:ext cx="3017520" cy="182880"/>
          </a:xfrm>
          <a:prstGeom prst="rect">
            <a:avLst/>
          </a:prstGeom>
          <a:noFill/>
        </p:spPr>
        <p:txBody>
          <a:bodyPr wrap="square" lIns="27432" rIns="27432" tIns="27432" bIns="27432" anchor="t">
            <a:spAutoFit/>
          </a:bodyPr>
          <a:lstStyle/>
          <a:p>
            <a:pPr algn="l"/>
            <a:r>
              <a:rPr sz="900" b="0" i="0">
                <a:solidFill>
                  <a:srgbClr val="647487"/>
                </a:solidFill>
                <a:latin typeface="Aptos"/>
              </a:rPr>
              <a:t>acuratețe de execuție</a:t>
            </a:r>
          </a:p>
        </p:txBody>
      </p:sp>
      <p:sp>
        <p:nvSpPr>
          <p:cNvPr id="16" name="Rounded Rectangle 15"/>
          <p:cNvSpPr/>
          <p:nvPr/>
        </p:nvSpPr>
        <p:spPr>
          <a:xfrm>
            <a:off x="4370831" y="1700784"/>
            <a:ext cx="3529584" cy="3602736"/>
          </a:xfrm>
          <a:prstGeom prst="roundRect">
            <a:avLst>
              <a:gd name="adj" fmla="val 362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1" y="1828800"/>
            <a:ext cx="73152" cy="3346704"/>
          </a:xfrm>
          <a:prstGeom prst="rect">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1865376"/>
            <a:ext cx="3017520" cy="274320"/>
          </a:xfrm>
          <a:prstGeom prst="rect">
            <a:avLst/>
          </a:prstGeom>
          <a:noFill/>
        </p:spPr>
        <p:txBody>
          <a:bodyPr wrap="square" lIns="27432" rIns="27432" tIns="27432" bIns="27432" anchor="t">
            <a:spAutoFit/>
          </a:bodyPr>
          <a:lstStyle/>
          <a:p>
            <a:pPr algn="l"/>
            <a:r>
              <a:rPr sz="1500" b="1" i="0">
                <a:solidFill>
                  <a:srgbClr val="102A43"/>
                </a:solidFill>
                <a:latin typeface="Consolas"/>
              </a:rPr>
              <a:t>adventureworks</a:t>
            </a:r>
          </a:p>
        </p:txBody>
      </p:sp>
      <p:sp>
        <p:nvSpPr>
          <p:cNvPr id="19" name="TextBox 18"/>
          <p:cNvSpPr txBox="1"/>
          <p:nvPr/>
        </p:nvSpPr>
        <p:spPr>
          <a:xfrm>
            <a:off x="4663440" y="2176272"/>
            <a:ext cx="3017520" cy="219456"/>
          </a:xfrm>
          <a:prstGeom prst="rect">
            <a:avLst/>
          </a:prstGeom>
          <a:noFill/>
        </p:spPr>
        <p:txBody>
          <a:bodyPr wrap="square" lIns="27432" rIns="27432" tIns="27432" bIns="27432" anchor="t">
            <a:spAutoFit/>
          </a:bodyPr>
          <a:lstStyle/>
          <a:p>
            <a:pPr algn="l"/>
            <a:r>
              <a:rPr sz="1050" b="1" i="0">
                <a:solidFill>
                  <a:srgbClr val="C1483A"/>
                </a:solidFill>
                <a:latin typeface="Aptos"/>
              </a:rPr>
              <a:t>OLTP public, Microsoft</a:t>
            </a:r>
          </a:p>
        </p:txBody>
      </p:sp>
      <p:sp>
        <p:nvSpPr>
          <p:cNvPr id="20" name="TextBox 19"/>
          <p:cNvSpPr txBox="1"/>
          <p:nvPr/>
        </p:nvSpPr>
        <p:spPr>
          <a:xfrm>
            <a:off x="4663440" y="2468880"/>
            <a:ext cx="3072384" cy="219456"/>
          </a:xfrm>
          <a:prstGeom prst="rect">
            <a:avLst/>
          </a:prstGeom>
          <a:noFill/>
        </p:spPr>
        <p:txBody>
          <a:bodyPr wrap="square" lIns="27432" rIns="27432" tIns="27432" bIns="27432" anchor="t">
            <a:spAutoFit/>
          </a:bodyPr>
          <a:lstStyle/>
          <a:p>
            <a:pPr algn="l"/>
            <a:r>
              <a:rPr sz="1100" b="0" i="0">
                <a:solidFill>
                  <a:srgbClr val="17212B"/>
                </a:solidFill>
                <a:latin typeface="Aptos"/>
              </a:rPr>
              <a:t>68 tabele · ≈761.000 rânduri</a:t>
            </a:r>
          </a:p>
        </p:txBody>
      </p:sp>
      <p:sp>
        <p:nvSpPr>
          <p:cNvPr id="21" name="TextBox 20"/>
          <p:cNvSpPr txBox="1"/>
          <p:nvPr/>
        </p:nvSpPr>
        <p:spPr>
          <a:xfrm>
            <a:off x="4663440" y="2706624"/>
            <a:ext cx="3072384" cy="219456"/>
          </a:xfrm>
          <a:prstGeom prst="rect">
            <a:avLst/>
          </a:prstGeom>
          <a:noFill/>
        </p:spPr>
        <p:txBody>
          <a:bodyPr wrap="square" lIns="27432" rIns="27432" tIns="27432" bIns="27432" anchor="t">
            <a:spAutoFit/>
          </a:bodyPr>
          <a:lstStyle/>
          <a:p>
            <a:pPr algn="l"/>
            <a:r>
              <a:rPr sz="1100" b="0" i="0">
                <a:solidFill>
                  <a:srgbClr val="17212B"/>
                </a:solidFill>
                <a:latin typeface="Aptos"/>
              </a:rPr>
              <a:t>56 de întrebări · autor propriu</a:t>
            </a:r>
          </a:p>
        </p:txBody>
      </p:sp>
      <p:sp>
        <p:nvSpPr>
          <p:cNvPr id="22" name="TextBox 21"/>
          <p:cNvSpPr txBox="1"/>
          <p:nvPr/>
        </p:nvSpPr>
        <p:spPr>
          <a:xfrm>
            <a:off x="4663440" y="3035808"/>
            <a:ext cx="3017520" cy="182880"/>
          </a:xfrm>
          <a:prstGeom prst="rect">
            <a:avLst/>
          </a:prstGeom>
          <a:noFill/>
        </p:spPr>
        <p:txBody>
          <a:bodyPr wrap="square" lIns="27432" rIns="27432" tIns="27432" bIns="27432" anchor="t">
            <a:spAutoFit/>
          </a:bodyPr>
          <a:lstStyle/>
          <a:p>
            <a:pPr algn="l"/>
            <a:r>
              <a:rPr sz="850" b="1" i="0">
                <a:solidFill>
                  <a:srgbClr val="647487"/>
                </a:solidFill>
                <a:latin typeface="Aptos"/>
              </a:rPr>
              <a:t>ÎNTREBARE DIFICILĂ DIN SET</a:t>
            </a:r>
          </a:p>
        </p:txBody>
      </p:sp>
      <p:sp>
        <p:nvSpPr>
          <p:cNvPr id="23" name="Rounded Rectangle 22"/>
          <p:cNvSpPr/>
          <p:nvPr/>
        </p:nvSpPr>
        <p:spPr>
          <a:xfrm>
            <a:off x="4645151" y="3255264"/>
            <a:ext cx="3108960" cy="1463040"/>
          </a:xfrm>
          <a:prstGeom prst="roundRect">
            <a:avLst>
              <a:gd name="adj" fmla="val 8750"/>
            </a:avLst>
          </a:prstGeom>
          <a:solidFill>
            <a:srgbClr val="FAECE9"/>
          </a:solidFill>
          <a:ln w="12700">
            <a:solidFill>
              <a:srgbClr val="FA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346704"/>
            <a:ext cx="2852928" cy="1280160"/>
          </a:xfrm>
          <a:prstGeom prst="rect">
            <a:avLst/>
          </a:prstGeom>
          <a:noFill/>
        </p:spPr>
        <p:txBody>
          <a:bodyPr wrap="square" lIns="27432" rIns="27432" tIns="27432" bIns="27432" anchor="t">
            <a:spAutoFit/>
          </a:bodyPr>
          <a:lstStyle/>
          <a:p>
            <a:pPr algn="l"/>
            <a:r>
              <a:rPr sz="950" b="0" i="1">
                <a:solidFill>
                  <a:srgbClr val="17212B"/>
                </a:solidFill>
                <a:latin typeface="Aptos"/>
              </a:rPr>
              <a:t>„For each product category, what is the value-weighted average discount rate on its sales order lines — the sum of unitpricediscount × unitprice × quantity, divided by the sum of unitprice × quantity?”</a:t>
            </a:r>
          </a:p>
        </p:txBody>
      </p:sp>
      <p:sp>
        <p:nvSpPr>
          <p:cNvPr id="25" name="TextBox 24"/>
          <p:cNvSpPr txBox="1"/>
          <p:nvPr/>
        </p:nvSpPr>
        <p:spPr>
          <a:xfrm>
            <a:off x="4663440" y="4754880"/>
            <a:ext cx="3017520" cy="438912"/>
          </a:xfrm>
          <a:prstGeom prst="rect">
            <a:avLst/>
          </a:prstGeom>
          <a:noFill/>
        </p:spPr>
        <p:txBody>
          <a:bodyPr wrap="square" lIns="27432" rIns="27432" tIns="27432" bIns="27432" anchor="t">
            <a:spAutoFit/>
          </a:bodyPr>
          <a:lstStyle/>
          <a:p>
            <a:pPr algn="l"/>
            <a:r>
              <a:rPr sz="2400" b="1" i="0">
                <a:solidFill>
                  <a:srgbClr val="C1483A"/>
                </a:solidFill>
                <a:latin typeface="Aptos"/>
              </a:rPr>
              <a:t>100 %</a:t>
            </a:r>
          </a:p>
        </p:txBody>
      </p:sp>
      <p:sp>
        <p:nvSpPr>
          <p:cNvPr id="26" name="TextBox 25"/>
          <p:cNvSpPr txBox="1"/>
          <p:nvPr/>
        </p:nvSpPr>
        <p:spPr>
          <a:xfrm>
            <a:off x="4663440" y="5102352"/>
            <a:ext cx="3017520" cy="182880"/>
          </a:xfrm>
          <a:prstGeom prst="rect">
            <a:avLst/>
          </a:prstGeom>
          <a:noFill/>
        </p:spPr>
        <p:txBody>
          <a:bodyPr wrap="square" lIns="27432" rIns="27432" tIns="27432" bIns="27432" anchor="t">
            <a:spAutoFit/>
          </a:bodyPr>
          <a:lstStyle/>
          <a:p>
            <a:pPr algn="l"/>
            <a:r>
              <a:rPr sz="900" b="0" i="0">
                <a:solidFill>
                  <a:srgbClr val="647487"/>
                </a:solidFill>
                <a:latin typeface="Aptos"/>
              </a:rPr>
              <a:t>acuratețe de execuție</a:t>
            </a:r>
          </a:p>
        </p:txBody>
      </p:sp>
      <p:sp>
        <p:nvSpPr>
          <p:cNvPr id="27" name="Rounded Rectangle 26"/>
          <p:cNvSpPr/>
          <p:nvPr/>
        </p:nvSpPr>
        <p:spPr>
          <a:xfrm>
            <a:off x="8083296" y="1700784"/>
            <a:ext cx="3529584" cy="3602736"/>
          </a:xfrm>
          <a:prstGeom prst="roundRect">
            <a:avLst>
              <a:gd name="adj" fmla="val 362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3296" y="1828800"/>
            <a:ext cx="73152" cy="3346704"/>
          </a:xfrm>
          <a:prstGeom prst="rect">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1865376"/>
            <a:ext cx="3017520" cy="274320"/>
          </a:xfrm>
          <a:prstGeom prst="rect">
            <a:avLst/>
          </a:prstGeom>
          <a:noFill/>
        </p:spPr>
        <p:txBody>
          <a:bodyPr wrap="square" lIns="27432" rIns="27432" tIns="27432" bIns="27432" anchor="t">
            <a:spAutoFit/>
          </a:bodyPr>
          <a:lstStyle/>
          <a:p>
            <a:pPr algn="l"/>
            <a:r>
              <a:rPr sz="1500" b="1" i="0">
                <a:solidFill>
                  <a:srgbClr val="102A43"/>
                </a:solidFill>
                <a:latin typeface="Consolas"/>
              </a:rPr>
              <a:t>BIRD-SQL dev</a:t>
            </a:r>
          </a:p>
        </p:txBody>
      </p:sp>
      <p:sp>
        <p:nvSpPr>
          <p:cNvPr id="30" name="TextBox 29"/>
          <p:cNvSpPr txBox="1"/>
          <p:nvPr/>
        </p:nvSpPr>
        <p:spPr>
          <a:xfrm>
            <a:off x="8375904" y="2176272"/>
            <a:ext cx="3017520" cy="219456"/>
          </a:xfrm>
          <a:prstGeom prst="rect">
            <a:avLst/>
          </a:prstGeom>
          <a:noFill/>
        </p:spPr>
        <p:txBody>
          <a:bodyPr wrap="square" lIns="27432" rIns="27432" tIns="27432" bIns="27432" anchor="t">
            <a:spAutoFit/>
          </a:bodyPr>
          <a:lstStyle/>
          <a:p>
            <a:pPr algn="l"/>
            <a:r>
              <a:rPr sz="1050" b="1" i="0">
                <a:solidFill>
                  <a:srgbClr val="2E8B57"/>
                </a:solidFill>
                <a:latin typeface="Aptos"/>
              </a:rPr>
              <a:t>11 baze, autor extern</a:t>
            </a:r>
          </a:p>
        </p:txBody>
      </p:sp>
      <p:sp>
        <p:nvSpPr>
          <p:cNvPr id="31" name="TextBox 30"/>
          <p:cNvSpPr txBox="1"/>
          <p:nvPr/>
        </p:nvSpPr>
        <p:spPr>
          <a:xfrm>
            <a:off x="8375904" y="2468880"/>
            <a:ext cx="3072384" cy="219456"/>
          </a:xfrm>
          <a:prstGeom prst="rect">
            <a:avLst/>
          </a:prstGeom>
          <a:noFill/>
        </p:spPr>
        <p:txBody>
          <a:bodyPr wrap="square" lIns="27432" rIns="27432" tIns="27432" bIns="27432" anchor="t">
            <a:spAutoFit/>
          </a:bodyPr>
          <a:lstStyle/>
          <a:p>
            <a:pPr algn="l"/>
            <a:r>
              <a:rPr sz="1100" b="0" i="0">
                <a:solidFill>
                  <a:srgbClr val="17212B"/>
                </a:solidFill>
                <a:latin typeface="Aptos"/>
              </a:rPr>
              <a:t>75 tabele · 3.932.735 rânduri</a:t>
            </a:r>
          </a:p>
        </p:txBody>
      </p:sp>
      <p:sp>
        <p:nvSpPr>
          <p:cNvPr id="32" name="TextBox 31"/>
          <p:cNvSpPr txBox="1"/>
          <p:nvPr/>
        </p:nvSpPr>
        <p:spPr>
          <a:xfrm>
            <a:off x="8375904" y="2706624"/>
            <a:ext cx="3072384" cy="219456"/>
          </a:xfrm>
          <a:prstGeom prst="rect">
            <a:avLst/>
          </a:prstGeom>
          <a:noFill/>
        </p:spPr>
        <p:txBody>
          <a:bodyPr wrap="square" lIns="27432" rIns="27432" tIns="27432" bIns="27432" anchor="t">
            <a:spAutoFit/>
          </a:bodyPr>
          <a:lstStyle/>
          <a:p>
            <a:pPr algn="l"/>
            <a:r>
              <a:rPr sz="1100" b="0" i="0">
                <a:solidFill>
                  <a:srgbClr val="17212B"/>
                </a:solidFill>
                <a:latin typeface="Aptos"/>
              </a:rPr>
              <a:t>1.534 de întrebări · autor extern</a:t>
            </a:r>
          </a:p>
        </p:txBody>
      </p:sp>
      <p:sp>
        <p:nvSpPr>
          <p:cNvPr id="33" name="TextBox 32"/>
          <p:cNvSpPr txBox="1"/>
          <p:nvPr/>
        </p:nvSpPr>
        <p:spPr>
          <a:xfrm>
            <a:off x="8375904" y="3035808"/>
            <a:ext cx="3017520" cy="182880"/>
          </a:xfrm>
          <a:prstGeom prst="rect">
            <a:avLst/>
          </a:prstGeom>
          <a:noFill/>
        </p:spPr>
        <p:txBody>
          <a:bodyPr wrap="square" lIns="27432" rIns="27432" tIns="27432" bIns="27432" anchor="t">
            <a:spAutoFit/>
          </a:bodyPr>
          <a:lstStyle/>
          <a:p>
            <a:pPr algn="l"/>
            <a:r>
              <a:rPr sz="850" b="1" i="0">
                <a:solidFill>
                  <a:srgbClr val="647487"/>
                </a:solidFill>
                <a:latin typeface="Aptos"/>
              </a:rPr>
              <a:t>ÎNTREBARE DIFICILĂ DIN SET</a:t>
            </a:r>
          </a:p>
        </p:txBody>
      </p:sp>
      <p:sp>
        <p:nvSpPr>
          <p:cNvPr id="34" name="Rounded Rectangle 33"/>
          <p:cNvSpPr/>
          <p:nvPr/>
        </p:nvSpPr>
        <p:spPr>
          <a:xfrm>
            <a:off x="8357616" y="3255264"/>
            <a:ext cx="3108960" cy="1463040"/>
          </a:xfrm>
          <a:prstGeom prst="roundRect">
            <a:avLst>
              <a:gd name="adj" fmla="val 8750"/>
            </a:avLst>
          </a:prstGeom>
          <a:solidFill>
            <a:srgbClr val="E8F5EE"/>
          </a:solidFill>
          <a:ln w="12700">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85632" y="3346704"/>
            <a:ext cx="2852928" cy="786384"/>
          </a:xfrm>
          <a:prstGeom prst="rect">
            <a:avLst/>
          </a:prstGeom>
          <a:noFill/>
        </p:spPr>
        <p:txBody>
          <a:bodyPr wrap="square" lIns="27432" rIns="27432" tIns="27432" bIns="27432" anchor="t">
            <a:spAutoFit/>
          </a:bodyPr>
          <a:lstStyle/>
          <a:p>
            <a:pPr algn="l"/>
            <a:r>
              <a:rPr sz="950" b="0" i="1">
                <a:solidFill>
                  <a:srgbClr val="17212B"/>
                </a:solidFill>
                <a:latin typeface="Aptos"/>
              </a:rPr>
              <a:t>„List out the account numbers of female clients who are oldest and has lowest average salary, calculate the gap between this lowest average salary with the highest average salary?”</a:t>
            </a:r>
          </a:p>
        </p:txBody>
      </p:sp>
      <p:sp>
        <p:nvSpPr>
          <p:cNvPr id="36" name="TextBox 35"/>
          <p:cNvSpPr txBox="1"/>
          <p:nvPr/>
        </p:nvSpPr>
        <p:spPr>
          <a:xfrm>
            <a:off x="8485632" y="4133087"/>
            <a:ext cx="2852928" cy="548640"/>
          </a:xfrm>
          <a:prstGeom prst="rect">
            <a:avLst/>
          </a:prstGeom>
          <a:noFill/>
        </p:spPr>
        <p:txBody>
          <a:bodyPr wrap="square" lIns="27432" rIns="27432" tIns="27432" bIns="27432" anchor="t">
            <a:spAutoFit/>
          </a:bodyPr>
          <a:lstStyle/>
          <a:p>
            <a:pPr algn="l"/>
            <a:r>
              <a:rPr sz="850" b="1" i="0">
                <a:solidFill>
                  <a:srgbClr val="2E8B57"/>
                </a:solidFill>
                <a:latin typeface="Aptos"/>
              </a:rPr>
              <a:t>+ dicționar extern: A11 refers to average salary; if person A's birthdate &gt; B's birthdate, person B is order than person A.</a:t>
            </a:r>
          </a:p>
        </p:txBody>
      </p:sp>
      <p:sp>
        <p:nvSpPr>
          <p:cNvPr id="37" name="TextBox 36"/>
          <p:cNvSpPr txBox="1"/>
          <p:nvPr/>
        </p:nvSpPr>
        <p:spPr>
          <a:xfrm>
            <a:off x="8375904" y="4754880"/>
            <a:ext cx="3017520" cy="438912"/>
          </a:xfrm>
          <a:prstGeom prst="rect">
            <a:avLst/>
          </a:prstGeom>
          <a:noFill/>
        </p:spPr>
        <p:txBody>
          <a:bodyPr wrap="square" lIns="27432" rIns="27432" tIns="27432" bIns="27432" anchor="t">
            <a:spAutoFit/>
          </a:bodyPr>
          <a:lstStyle/>
          <a:p>
            <a:pPr algn="l"/>
            <a:r>
              <a:rPr sz="2400" b="1" i="0">
                <a:solidFill>
                  <a:srgbClr val="2E8B57"/>
                </a:solidFill>
                <a:latin typeface="Aptos"/>
              </a:rPr>
              <a:t>63,6 %</a:t>
            </a:r>
          </a:p>
        </p:txBody>
      </p:sp>
      <p:sp>
        <p:nvSpPr>
          <p:cNvPr id="38" name="TextBox 37"/>
          <p:cNvSpPr txBox="1"/>
          <p:nvPr/>
        </p:nvSpPr>
        <p:spPr>
          <a:xfrm>
            <a:off x="8375904" y="5102352"/>
            <a:ext cx="3017520" cy="182880"/>
          </a:xfrm>
          <a:prstGeom prst="rect">
            <a:avLst/>
          </a:prstGeom>
          <a:noFill/>
        </p:spPr>
        <p:txBody>
          <a:bodyPr wrap="square" lIns="27432" rIns="27432" tIns="27432" bIns="27432" anchor="t">
            <a:spAutoFit/>
          </a:bodyPr>
          <a:lstStyle/>
          <a:p>
            <a:pPr algn="l"/>
            <a:r>
              <a:rPr sz="900" b="0" i="0">
                <a:solidFill>
                  <a:srgbClr val="647487"/>
                </a:solidFill>
                <a:latin typeface="Aptos"/>
              </a:rPr>
              <a:t>acuratețe de execuție</a:t>
            </a:r>
          </a:p>
        </p:txBody>
      </p:sp>
      <p:sp>
        <p:nvSpPr>
          <p:cNvPr id="39" name="Rounded Rectangle 38"/>
          <p:cNvSpPr/>
          <p:nvPr/>
        </p:nvSpPr>
        <p:spPr>
          <a:xfrm>
            <a:off x="658368" y="5449824"/>
            <a:ext cx="10917936" cy="914400"/>
          </a:xfrm>
          <a:prstGeom prst="roundRect">
            <a:avLst>
              <a:gd name="adj" fmla="val 14000"/>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0976" y="5541264"/>
            <a:ext cx="10332720" cy="292608"/>
          </a:xfrm>
          <a:prstGeom prst="rect">
            <a:avLst/>
          </a:prstGeom>
          <a:noFill/>
        </p:spPr>
        <p:txBody>
          <a:bodyPr wrap="square" lIns="27432" rIns="27432" tIns="27432" bIns="27432" anchor="t">
            <a:spAutoFit/>
          </a:bodyPr>
          <a:lstStyle/>
          <a:p>
            <a:pPr algn="l"/>
            <a:r>
              <a:rPr sz="1400" b="1" i="0">
                <a:solidFill>
                  <a:srgbClr val="FFFFFF"/>
                </a:solidFill>
                <a:latin typeface="Aptos"/>
              </a:rPr>
              <a:t>În primele două seturi dificultatea este </a:t>
            </a:r>
            <a:r>
              <a:rPr sz="1400" b="1" i="0">
                <a:solidFill>
                  <a:srgbClr val="E1A83B"/>
                </a:solidFill>
                <a:latin typeface="Aptos"/>
              </a:rPr>
              <a:t>sintactică</a:t>
            </a:r>
            <a:r>
              <a:rPr sz="1400" b="1" i="0">
                <a:solidFill>
                  <a:srgbClr val="FFFFFF"/>
                </a:solidFill>
                <a:latin typeface="Aptos"/>
              </a:rPr>
              <a:t>; în al treilea este </a:t>
            </a:r>
            <a:r>
              <a:rPr sz="1400" b="1" i="0">
                <a:solidFill>
                  <a:srgbClr val="E1A83B"/>
                </a:solidFill>
                <a:latin typeface="Aptos"/>
              </a:rPr>
              <a:t>semantică</a:t>
            </a:r>
            <a:r>
              <a:rPr sz="1400" b="1" i="0">
                <a:solidFill>
                  <a:srgbClr val="FFFFFF"/>
                </a:solidFill>
                <a:latin typeface="Aptos"/>
              </a:rPr>
              <a:t>.</a:t>
            </a:r>
          </a:p>
        </p:txBody>
      </p:sp>
      <p:sp>
        <p:nvSpPr>
          <p:cNvPr id="41" name="TextBox 40"/>
          <p:cNvSpPr txBox="1"/>
          <p:nvPr/>
        </p:nvSpPr>
        <p:spPr>
          <a:xfrm>
            <a:off x="950976" y="5870448"/>
            <a:ext cx="10332720" cy="438912"/>
          </a:xfrm>
          <a:prstGeom prst="rect">
            <a:avLst/>
          </a:prstGeom>
          <a:noFill/>
        </p:spPr>
        <p:txBody>
          <a:bodyPr wrap="square" lIns="27432" rIns="27432" tIns="27432" bIns="27432" anchor="t">
            <a:spAutoFit/>
          </a:bodyPr>
          <a:lstStyle/>
          <a:p>
            <a:pPr algn="l"/>
            <a:r>
              <a:rPr sz="1100" b="0" i="0">
                <a:solidFill>
                  <a:srgbClr val="9FB4C6"/>
                </a:solidFill>
                <a:latin typeface="Aptos"/>
              </a:rPr>
              <a:t>Coloana </a:t>
            </a:r>
            <a:r>
              <a:rPr sz="1100" b="0" i="0">
                <a:solidFill>
                  <a:srgbClr val="E1A83B"/>
                </a:solidFill>
                <a:latin typeface="Consolas"/>
              </a:rPr>
              <a:t>A11</a:t>
            </a:r>
            <a:r>
              <a:rPr sz="1100" b="0" i="0">
                <a:solidFill>
                  <a:srgbClr val="9FB4C6"/>
                </a:solidFill>
                <a:latin typeface="Aptos"/>
              </a:rPr>
              <a:t> nu poate fi dedusă din schemă, iar valoarea „north Bohemia” nu corespunde formei „North Bohemia”. Volumul nu explică diferența de scor: dispersia este de 61 de puncte între cele 11 baze BIRD, față de 8 puncte între modele.</a:t>
            </a:r>
          </a:p>
        </p:txBody>
      </p:sp>
      <p:sp>
        <p:nvSpPr>
          <p:cNvPr id="42" name="TextBox 41"/>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car_rental și AdventureWorks: gemini-3.7-flash. BIRD-SQL dev: aceeași rulare, DDL brut</a:t>
            </a:r>
          </a:p>
        </p:txBody>
      </p:sp>
      <p:sp>
        <p:nvSpPr>
          <p:cNvPr id="43" name="TextBox 42"/>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REZULTATUL PRINCIPAL</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Mai multă autonomie nu a însemnat mai multă acuratețe</a:t>
            </a:r>
          </a:p>
        </p:txBody>
      </p:sp>
      <p:pic>
        <p:nvPicPr>
          <p:cNvPr id="4" name="Picture 3" descr="fig_accuracy_arms.png"/>
          <p:cNvPicPr>
            <a:picLocks noChangeAspect="1"/>
          </p:cNvPicPr>
          <p:nvPr/>
        </p:nvPicPr>
        <p:blipFill>
          <a:blip r:embed="rId2"/>
          <a:stretch>
            <a:fillRect/>
          </a:stretch>
        </p:blipFill>
        <p:spPr>
          <a:xfrm>
            <a:off x="582841" y="1517904"/>
            <a:ext cx="7621700" cy="4754880"/>
          </a:xfrm>
          <a:prstGeom prst="rect">
            <a:avLst/>
          </a:prstGeom>
        </p:spPr>
      </p:pic>
      <p:sp>
        <p:nvSpPr>
          <p:cNvPr id="5" name="Rounded Rectangle 4"/>
          <p:cNvSpPr/>
          <p:nvPr/>
        </p:nvSpPr>
        <p:spPr>
          <a:xfrm>
            <a:off x="8485632" y="1517904"/>
            <a:ext cx="3044952" cy="4480560"/>
          </a:xfrm>
          <a:prstGeom prst="roundRect">
            <a:avLst>
              <a:gd name="adj" fmla="val 4204"/>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14816" y="1847088"/>
            <a:ext cx="2331720" cy="502920"/>
          </a:xfrm>
          <a:prstGeom prst="rect">
            <a:avLst/>
          </a:prstGeom>
          <a:noFill/>
        </p:spPr>
        <p:txBody>
          <a:bodyPr wrap="square" lIns="27432" rIns="27432" tIns="27432" bIns="27432" anchor="t">
            <a:spAutoFit/>
          </a:bodyPr>
          <a:lstStyle/>
          <a:p>
            <a:pPr algn="l"/>
            <a:r>
              <a:rPr sz="2600" b="1" i="0">
                <a:solidFill>
                  <a:srgbClr val="1F6FB4"/>
                </a:solidFill>
                <a:latin typeface="Aptos"/>
              </a:rPr>
              <a:t>100%</a:t>
            </a:r>
          </a:p>
        </p:txBody>
      </p:sp>
      <p:sp>
        <p:nvSpPr>
          <p:cNvPr id="7" name="TextBox 6"/>
          <p:cNvSpPr txBox="1"/>
          <p:nvPr/>
        </p:nvSpPr>
        <p:spPr>
          <a:xfrm>
            <a:off x="8833104" y="2350008"/>
            <a:ext cx="2231136" cy="228600"/>
          </a:xfrm>
          <a:prstGeom prst="rect">
            <a:avLst/>
          </a:prstGeom>
          <a:noFill/>
        </p:spPr>
        <p:txBody>
          <a:bodyPr wrap="square" lIns="27432" rIns="27432" tIns="27432" bIns="27432" anchor="t">
            <a:spAutoFit/>
          </a:bodyPr>
          <a:lstStyle/>
          <a:p>
            <a:pPr algn="l"/>
            <a:r>
              <a:rPr sz="1150" b="0" i="0">
                <a:solidFill>
                  <a:srgbClr val="C8D7E4"/>
                </a:solidFill>
                <a:latin typeface="Aptos"/>
              </a:rPr>
              <a:t>cel mai bun apel unic</a:t>
            </a:r>
          </a:p>
        </p:txBody>
      </p:sp>
      <p:sp>
        <p:nvSpPr>
          <p:cNvPr id="8" name="TextBox 7"/>
          <p:cNvSpPr txBox="1"/>
          <p:nvPr/>
        </p:nvSpPr>
        <p:spPr>
          <a:xfrm>
            <a:off x="8814816" y="2990088"/>
            <a:ext cx="2331720" cy="502920"/>
          </a:xfrm>
          <a:prstGeom prst="rect">
            <a:avLst/>
          </a:prstGeom>
          <a:noFill/>
        </p:spPr>
        <p:txBody>
          <a:bodyPr wrap="square" lIns="27432" rIns="27432" tIns="27432" bIns="27432" anchor="t">
            <a:spAutoFit/>
          </a:bodyPr>
          <a:lstStyle/>
          <a:p>
            <a:pPr algn="l"/>
            <a:r>
              <a:rPr sz="2600" b="1" i="0">
                <a:solidFill>
                  <a:srgbClr val="C1483A"/>
                </a:solidFill>
                <a:latin typeface="Aptos"/>
              </a:rPr>
              <a:t>95,5%</a:t>
            </a:r>
          </a:p>
        </p:txBody>
      </p:sp>
      <p:sp>
        <p:nvSpPr>
          <p:cNvPr id="9" name="TextBox 8"/>
          <p:cNvSpPr txBox="1"/>
          <p:nvPr/>
        </p:nvSpPr>
        <p:spPr>
          <a:xfrm>
            <a:off x="8833104" y="3493008"/>
            <a:ext cx="2231136" cy="228600"/>
          </a:xfrm>
          <a:prstGeom prst="rect">
            <a:avLst/>
          </a:prstGeom>
          <a:noFill/>
        </p:spPr>
        <p:txBody>
          <a:bodyPr wrap="square" lIns="27432" rIns="27432" tIns="27432" bIns="27432" anchor="t">
            <a:spAutoFit/>
          </a:bodyPr>
          <a:lstStyle/>
          <a:p>
            <a:pPr algn="l"/>
            <a:r>
              <a:rPr sz="1150" b="0" i="0">
                <a:solidFill>
                  <a:srgbClr val="C8D7E4"/>
                </a:solidFill>
                <a:latin typeface="Aptos"/>
              </a:rPr>
              <a:t>cel mai bun agent</a:t>
            </a:r>
          </a:p>
        </p:txBody>
      </p:sp>
      <p:sp>
        <p:nvSpPr>
          <p:cNvPr id="10" name="TextBox 9"/>
          <p:cNvSpPr txBox="1"/>
          <p:nvPr/>
        </p:nvSpPr>
        <p:spPr>
          <a:xfrm>
            <a:off x="8814816" y="4133087"/>
            <a:ext cx="2331720" cy="502920"/>
          </a:xfrm>
          <a:prstGeom prst="rect">
            <a:avLst/>
          </a:prstGeom>
          <a:noFill/>
        </p:spPr>
        <p:txBody>
          <a:bodyPr wrap="square" lIns="27432" rIns="27432" tIns="27432" bIns="27432" anchor="t">
            <a:spAutoFit/>
          </a:bodyPr>
          <a:lstStyle/>
          <a:p>
            <a:pPr algn="l"/>
            <a:r>
              <a:rPr sz="2600" b="1" i="0">
                <a:solidFill>
                  <a:srgbClr val="2E8B57"/>
                </a:solidFill>
                <a:latin typeface="Aptos"/>
              </a:rPr>
              <a:t>93,2%</a:t>
            </a:r>
          </a:p>
        </p:txBody>
      </p:sp>
      <p:sp>
        <p:nvSpPr>
          <p:cNvPr id="11" name="TextBox 10"/>
          <p:cNvSpPr txBox="1"/>
          <p:nvPr/>
        </p:nvSpPr>
        <p:spPr>
          <a:xfrm>
            <a:off x="8833104" y="4636007"/>
            <a:ext cx="2231136" cy="228600"/>
          </a:xfrm>
          <a:prstGeom prst="rect">
            <a:avLst/>
          </a:prstGeom>
          <a:noFill/>
        </p:spPr>
        <p:txBody>
          <a:bodyPr wrap="square" lIns="27432" rIns="27432" tIns="27432" bIns="27432" anchor="t">
            <a:spAutoFit/>
          </a:bodyPr>
          <a:lstStyle/>
          <a:p>
            <a:pPr algn="l"/>
            <a:r>
              <a:rPr sz="1150" b="0" i="0">
                <a:solidFill>
                  <a:srgbClr val="C8D7E4"/>
                </a:solidFill>
                <a:latin typeface="Aptos"/>
              </a:rPr>
              <a:t>cel mai bun model local</a:t>
            </a:r>
          </a:p>
        </p:txBody>
      </p:sp>
      <p:sp>
        <p:nvSpPr>
          <p:cNvPr id="12" name="TextBox 11"/>
          <p:cNvSpPr txBox="1"/>
          <p:nvPr/>
        </p:nvSpPr>
        <p:spPr>
          <a:xfrm>
            <a:off x="8814816" y="5285232"/>
            <a:ext cx="2267712" cy="493776"/>
          </a:xfrm>
          <a:prstGeom prst="rect">
            <a:avLst/>
          </a:prstGeom>
          <a:noFill/>
        </p:spPr>
        <p:txBody>
          <a:bodyPr wrap="square" lIns="27432" rIns="27432" tIns="27432" bIns="27432" anchor="t">
            <a:spAutoFit/>
          </a:bodyPr>
          <a:lstStyle/>
          <a:p>
            <a:pPr algn="l"/>
            <a:r>
              <a:rPr sz="1300" b="1" i="0">
                <a:solidFill>
                  <a:srgbClr val="FFFFFF"/>
                </a:solidFill>
                <a:latin typeface="Aptos"/>
              </a:rPr>
              <a:t>Toate primele patru poziții folosesc cea mai simplă configurație.</a:t>
            </a:r>
          </a:p>
        </p:txBody>
      </p:sp>
      <p:sp>
        <p:nvSpPr>
          <p:cNvPr id="13" name="TextBox 12"/>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Acuratețe de execuție pe car_rental, 44 de întrebări punctate</a:t>
            </a:r>
          </a:p>
        </p:txBody>
      </p:sp>
      <p:sp>
        <p:nvSpPr>
          <p:cNvPr id="14" name="TextBox 13"/>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COST VS. ACURATEȚE</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Explorarea agentică are un cost structural</a:t>
            </a:r>
          </a:p>
        </p:txBody>
      </p:sp>
      <p:pic>
        <p:nvPicPr>
          <p:cNvPr id="4" name="Picture 3" descr="fig_cost_accuracy.png"/>
          <p:cNvPicPr>
            <a:picLocks noChangeAspect="1"/>
          </p:cNvPicPr>
          <p:nvPr/>
        </p:nvPicPr>
        <p:blipFill>
          <a:blip r:embed="rId2"/>
          <a:stretch>
            <a:fillRect/>
          </a:stretch>
        </p:blipFill>
        <p:spPr>
          <a:xfrm>
            <a:off x="566928" y="1513388"/>
            <a:ext cx="8046720" cy="4517023"/>
          </a:xfrm>
          <a:prstGeom prst="rect">
            <a:avLst/>
          </a:prstGeom>
        </p:spPr>
      </p:pic>
      <p:sp>
        <p:nvSpPr>
          <p:cNvPr id="5" name="Rounded Rectangle 4"/>
          <p:cNvSpPr/>
          <p:nvPr/>
        </p:nvSpPr>
        <p:spPr>
          <a:xfrm>
            <a:off x="8814816" y="1399032"/>
            <a:ext cx="2615184" cy="1938528"/>
          </a:xfrm>
          <a:prstGeom prst="roundRect">
            <a:avLst>
              <a:gd name="adj" fmla="val 6603"/>
            </a:avLst>
          </a:prstGeom>
          <a:solidFill>
            <a:srgbClr val="FAECE9"/>
          </a:solidFill>
          <a:ln w="12700">
            <a:solidFill>
              <a:srgbClr val="FA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14816" y="1764792"/>
            <a:ext cx="2615184" cy="576072"/>
          </a:xfrm>
          <a:prstGeom prst="rect">
            <a:avLst/>
          </a:prstGeom>
          <a:noFill/>
        </p:spPr>
        <p:txBody>
          <a:bodyPr wrap="square" lIns="27432" rIns="27432" tIns="27432" bIns="27432" anchor="t">
            <a:spAutoFit/>
          </a:bodyPr>
          <a:lstStyle/>
          <a:p>
            <a:pPr algn="ctr"/>
            <a:r>
              <a:rPr sz="3100" b="1" i="0">
                <a:solidFill>
                  <a:srgbClr val="C1483A"/>
                </a:solidFill>
                <a:latin typeface="Aptos"/>
              </a:rPr>
              <a:t>9–63×</a:t>
            </a:r>
          </a:p>
        </p:txBody>
      </p:sp>
      <p:sp>
        <p:nvSpPr>
          <p:cNvPr id="7" name="TextBox 6"/>
          <p:cNvSpPr txBox="1"/>
          <p:nvPr/>
        </p:nvSpPr>
        <p:spPr>
          <a:xfrm>
            <a:off x="9052560" y="2468880"/>
            <a:ext cx="2139696" cy="329184"/>
          </a:xfrm>
          <a:prstGeom prst="rect">
            <a:avLst/>
          </a:prstGeom>
          <a:noFill/>
        </p:spPr>
        <p:txBody>
          <a:bodyPr wrap="square" lIns="27432" rIns="27432" tIns="27432" bIns="27432" anchor="t">
            <a:spAutoFit/>
          </a:bodyPr>
          <a:lstStyle/>
          <a:p>
            <a:pPr algn="ctr"/>
            <a:r>
              <a:rPr sz="1200" b="1" i="0">
                <a:solidFill>
                  <a:srgbClr val="C1483A"/>
                </a:solidFill>
                <a:latin typeface="Aptos"/>
              </a:rPr>
              <a:t>mai scump / 100 întrebări</a:t>
            </a:r>
          </a:p>
        </p:txBody>
      </p:sp>
      <p:sp>
        <p:nvSpPr>
          <p:cNvPr id="8" name="Rounded Rectangle 7"/>
          <p:cNvSpPr/>
          <p:nvPr/>
        </p:nvSpPr>
        <p:spPr>
          <a:xfrm>
            <a:off x="8814816" y="3703320"/>
            <a:ext cx="2615184" cy="1773936"/>
          </a:xfrm>
          <a:prstGeom prst="roundRect">
            <a:avLst>
              <a:gd name="adj" fmla="val 721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14816" y="3831335"/>
            <a:ext cx="73152" cy="1517904"/>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34856" y="3904487"/>
            <a:ext cx="2148840" cy="548640"/>
          </a:xfrm>
          <a:prstGeom prst="rect">
            <a:avLst/>
          </a:prstGeom>
          <a:noFill/>
        </p:spPr>
        <p:txBody>
          <a:bodyPr wrap="square" lIns="27432" rIns="27432" tIns="27432" bIns="27432" anchor="t">
            <a:spAutoFit/>
          </a:bodyPr>
          <a:lstStyle/>
          <a:p>
            <a:pPr algn="l"/>
            <a:r>
              <a:rPr sz="1800" b="1" i="0">
                <a:solidFill>
                  <a:srgbClr val="102A43"/>
                </a:solidFill>
                <a:latin typeface="Aptos"/>
              </a:rPr>
              <a:t>De ce?</a:t>
            </a:r>
          </a:p>
        </p:txBody>
      </p:sp>
      <p:sp>
        <p:nvSpPr>
          <p:cNvPr id="11" name="TextBox 10"/>
          <p:cNvSpPr txBox="1"/>
          <p:nvPr/>
        </p:nvSpPr>
        <p:spPr>
          <a:xfrm>
            <a:off x="9134856" y="4507992"/>
            <a:ext cx="2020824" cy="813815"/>
          </a:xfrm>
          <a:prstGeom prst="rect">
            <a:avLst/>
          </a:prstGeom>
          <a:noFill/>
        </p:spPr>
        <p:txBody>
          <a:bodyPr wrap="square" lIns="27432" rIns="27432" tIns="27432" bIns="27432" anchor="t">
            <a:spAutoFit/>
          </a:bodyPr>
          <a:lstStyle/>
          <a:p>
            <a:pPr algn="l"/>
            <a:r>
              <a:rPr sz="1250" b="0" i="0">
                <a:solidFill>
                  <a:srgbClr val="647487"/>
                </a:solidFill>
                <a:latin typeface="Aptos"/>
              </a:rPr>
              <a:t>La fiecare pas, agentul retrimite contextul acumulat și promptul propriu.</a:t>
            </a:r>
          </a:p>
        </p:txBody>
      </p:sp>
      <p:sp>
        <p:nvSpPr>
          <p:cNvPr id="12" name="TextBox 11"/>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Costuri măsurate; axa costului este logaritmică</a:t>
            </a:r>
          </a:p>
        </p:txBody>
      </p:sp>
      <p:sp>
        <p:nvSpPr>
          <p:cNvPr id="13" name="TextBox 12"/>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INFRASTRUCTURĂ LOCALĂ</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Un model local poate fi competitiv</a:t>
            </a:r>
          </a:p>
        </p:txBody>
      </p:sp>
      <p:pic>
        <p:nvPicPr>
          <p:cNvPr id="4" name="Picture 3" descr="fig_local.png"/>
          <p:cNvPicPr>
            <a:picLocks noChangeAspect="1"/>
          </p:cNvPicPr>
          <p:nvPr/>
        </p:nvPicPr>
        <p:blipFill>
          <a:blip r:embed="rId2"/>
          <a:stretch>
            <a:fillRect/>
          </a:stretch>
        </p:blipFill>
        <p:spPr>
          <a:xfrm>
            <a:off x="566928" y="1449029"/>
            <a:ext cx="8001000" cy="4645741"/>
          </a:xfrm>
          <a:prstGeom prst="rect">
            <a:avLst/>
          </a:prstGeom>
        </p:spPr>
      </p:pic>
      <p:sp>
        <p:nvSpPr>
          <p:cNvPr id="5" name="Rounded Rectangle 4"/>
          <p:cNvSpPr/>
          <p:nvPr/>
        </p:nvSpPr>
        <p:spPr>
          <a:xfrm>
            <a:off x="8796528" y="1353312"/>
            <a:ext cx="2651760" cy="4480560"/>
          </a:xfrm>
          <a:prstGeom prst="roundRect">
            <a:avLst>
              <a:gd name="adj" fmla="val 4827"/>
            </a:avLst>
          </a:prstGeom>
          <a:solidFill>
            <a:srgbClr val="E8F5EE"/>
          </a:solidFill>
          <a:ln w="12700">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70848" y="1755648"/>
            <a:ext cx="2084831" cy="457200"/>
          </a:xfrm>
          <a:prstGeom prst="rect">
            <a:avLst/>
          </a:prstGeom>
          <a:noFill/>
        </p:spPr>
        <p:txBody>
          <a:bodyPr wrap="square" lIns="27432" rIns="27432" tIns="27432" bIns="27432" anchor="t">
            <a:spAutoFit/>
          </a:bodyPr>
          <a:lstStyle/>
          <a:p>
            <a:pPr algn="ctr"/>
            <a:r>
              <a:rPr sz="2500" b="1" i="0">
                <a:solidFill>
                  <a:srgbClr val="2E8B57"/>
                </a:solidFill>
                <a:latin typeface="Aptos"/>
              </a:rPr>
              <a:t>35B MoE</a:t>
            </a:r>
          </a:p>
        </p:txBody>
      </p:sp>
      <p:sp>
        <p:nvSpPr>
          <p:cNvPr id="7" name="TextBox 6"/>
          <p:cNvSpPr txBox="1"/>
          <p:nvPr/>
        </p:nvSpPr>
        <p:spPr>
          <a:xfrm>
            <a:off x="9070848" y="2340864"/>
            <a:ext cx="2084831" cy="457200"/>
          </a:xfrm>
          <a:prstGeom prst="rect">
            <a:avLst/>
          </a:prstGeom>
          <a:noFill/>
        </p:spPr>
        <p:txBody>
          <a:bodyPr wrap="square" lIns="27432" rIns="27432" tIns="27432" bIns="27432" anchor="t">
            <a:spAutoFit/>
          </a:bodyPr>
          <a:lstStyle/>
          <a:p>
            <a:pPr algn="ctr"/>
            <a:r>
              <a:rPr sz="2500" b="1" i="0">
                <a:solidFill>
                  <a:srgbClr val="102A43"/>
                </a:solidFill>
                <a:latin typeface="Aptos"/>
              </a:rPr>
              <a:t>93,2%</a:t>
            </a:r>
          </a:p>
        </p:txBody>
      </p:sp>
      <p:sp>
        <p:nvSpPr>
          <p:cNvPr id="8" name="TextBox 7"/>
          <p:cNvSpPr txBox="1"/>
          <p:nvPr/>
        </p:nvSpPr>
        <p:spPr>
          <a:xfrm>
            <a:off x="9070848" y="2962656"/>
            <a:ext cx="2084831" cy="292608"/>
          </a:xfrm>
          <a:prstGeom prst="rect">
            <a:avLst/>
          </a:prstGeom>
          <a:noFill/>
        </p:spPr>
        <p:txBody>
          <a:bodyPr wrap="square" lIns="27432" rIns="27432" tIns="27432" bIns="27432" anchor="t">
            <a:spAutoFit/>
          </a:bodyPr>
          <a:lstStyle/>
          <a:p>
            <a:pPr algn="ctr"/>
            <a:r>
              <a:rPr sz="1250" b="1" i="0">
                <a:solidFill>
                  <a:srgbClr val="647487"/>
                </a:solidFill>
                <a:latin typeface="Aptos"/>
              </a:rPr>
              <a:t>RTX 5070 · 12 GiB</a:t>
            </a:r>
          </a:p>
        </p:txBody>
      </p:sp>
      <p:sp>
        <p:nvSpPr>
          <p:cNvPr id="9" name="TextBox 8"/>
          <p:cNvSpPr txBox="1"/>
          <p:nvPr/>
        </p:nvSpPr>
        <p:spPr>
          <a:xfrm>
            <a:off x="9125712" y="3703320"/>
            <a:ext cx="228600" cy="228600"/>
          </a:xfrm>
          <a:prstGeom prst="rect">
            <a:avLst/>
          </a:prstGeom>
          <a:noFill/>
        </p:spPr>
        <p:txBody>
          <a:bodyPr wrap="square" lIns="27432" rIns="27432" tIns="27432" bIns="27432" anchor="t">
            <a:spAutoFit/>
          </a:bodyPr>
          <a:lstStyle/>
          <a:p>
            <a:pPr algn="l"/>
            <a:r>
              <a:rPr sz="1300" b="1" i="0">
                <a:solidFill>
                  <a:srgbClr val="2E8B57"/>
                </a:solidFill>
                <a:latin typeface="Aptos"/>
              </a:rPr>
              <a:t>✓</a:t>
            </a:r>
          </a:p>
        </p:txBody>
      </p:sp>
      <p:sp>
        <p:nvSpPr>
          <p:cNvPr id="10" name="TextBox 9"/>
          <p:cNvSpPr txBox="1"/>
          <p:nvPr/>
        </p:nvSpPr>
        <p:spPr>
          <a:xfrm>
            <a:off x="9436608" y="3675887"/>
            <a:ext cx="1554480" cy="310896"/>
          </a:xfrm>
          <a:prstGeom prst="rect">
            <a:avLst/>
          </a:prstGeom>
          <a:noFill/>
        </p:spPr>
        <p:txBody>
          <a:bodyPr wrap="square" lIns="27432" rIns="27432" tIns="27432" bIns="27432" anchor="t">
            <a:spAutoFit/>
          </a:bodyPr>
          <a:lstStyle/>
          <a:p>
            <a:pPr algn="l"/>
            <a:r>
              <a:rPr sz="1150" b="1" i="0">
                <a:solidFill>
                  <a:srgbClr val="17212B"/>
                </a:solidFill>
                <a:latin typeface="Aptos"/>
              </a:rPr>
              <a:t>Datele rămân local</a:t>
            </a:r>
          </a:p>
        </p:txBody>
      </p:sp>
      <p:sp>
        <p:nvSpPr>
          <p:cNvPr id="11" name="TextBox 10"/>
          <p:cNvSpPr txBox="1"/>
          <p:nvPr/>
        </p:nvSpPr>
        <p:spPr>
          <a:xfrm>
            <a:off x="9125712" y="4206240"/>
            <a:ext cx="228600" cy="228600"/>
          </a:xfrm>
          <a:prstGeom prst="rect">
            <a:avLst/>
          </a:prstGeom>
          <a:noFill/>
        </p:spPr>
        <p:txBody>
          <a:bodyPr wrap="square" lIns="27432" rIns="27432" tIns="27432" bIns="27432" anchor="t">
            <a:spAutoFit/>
          </a:bodyPr>
          <a:lstStyle/>
          <a:p>
            <a:pPr algn="l"/>
            <a:r>
              <a:rPr sz="1300" b="1" i="0">
                <a:solidFill>
                  <a:srgbClr val="2E8B57"/>
                </a:solidFill>
                <a:latin typeface="Aptos"/>
              </a:rPr>
              <a:t>✓</a:t>
            </a:r>
          </a:p>
        </p:txBody>
      </p:sp>
      <p:sp>
        <p:nvSpPr>
          <p:cNvPr id="12" name="TextBox 11"/>
          <p:cNvSpPr txBox="1"/>
          <p:nvPr/>
        </p:nvSpPr>
        <p:spPr>
          <a:xfrm>
            <a:off x="9436608" y="4178807"/>
            <a:ext cx="1554480" cy="310896"/>
          </a:xfrm>
          <a:prstGeom prst="rect">
            <a:avLst/>
          </a:prstGeom>
          <a:noFill/>
        </p:spPr>
        <p:txBody>
          <a:bodyPr wrap="square" lIns="27432" rIns="27432" tIns="27432" bIns="27432" anchor="t">
            <a:spAutoFit/>
          </a:bodyPr>
          <a:lstStyle/>
          <a:p>
            <a:pPr algn="l"/>
            <a:r>
              <a:rPr sz="1150" b="1" i="0">
                <a:solidFill>
                  <a:srgbClr val="17212B"/>
                </a:solidFill>
                <a:latin typeface="Aptos"/>
              </a:rPr>
              <a:t>Fără tarif per token</a:t>
            </a:r>
          </a:p>
        </p:txBody>
      </p:sp>
      <p:sp>
        <p:nvSpPr>
          <p:cNvPr id="13" name="TextBox 12"/>
          <p:cNvSpPr txBox="1"/>
          <p:nvPr/>
        </p:nvSpPr>
        <p:spPr>
          <a:xfrm>
            <a:off x="9125712" y="4709160"/>
            <a:ext cx="228600" cy="228600"/>
          </a:xfrm>
          <a:prstGeom prst="rect">
            <a:avLst/>
          </a:prstGeom>
          <a:noFill/>
        </p:spPr>
        <p:txBody>
          <a:bodyPr wrap="square" lIns="27432" rIns="27432" tIns="27432" bIns="27432" anchor="t">
            <a:spAutoFit/>
          </a:bodyPr>
          <a:lstStyle/>
          <a:p>
            <a:pPr algn="l"/>
            <a:r>
              <a:rPr sz="1300" b="1" i="0">
                <a:solidFill>
                  <a:srgbClr val="2E8B57"/>
                </a:solidFill>
                <a:latin typeface="Aptos"/>
              </a:rPr>
              <a:t>✓</a:t>
            </a:r>
          </a:p>
        </p:txBody>
      </p:sp>
      <p:sp>
        <p:nvSpPr>
          <p:cNvPr id="14" name="TextBox 13"/>
          <p:cNvSpPr txBox="1"/>
          <p:nvPr/>
        </p:nvSpPr>
        <p:spPr>
          <a:xfrm>
            <a:off x="9436608" y="4681727"/>
            <a:ext cx="1554480" cy="310896"/>
          </a:xfrm>
          <a:prstGeom prst="rect">
            <a:avLst/>
          </a:prstGeom>
          <a:noFill/>
        </p:spPr>
        <p:txBody>
          <a:bodyPr wrap="square" lIns="27432" rIns="27432" tIns="27432" bIns="27432" anchor="t">
            <a:spAutoFit/>
          </a:bodyPr>
          <a:lstStyle/>
          <a:p>
            <a:pPr algn="l"/>
            <a:r>
              <a:rPr sz="1150" b="1" i="0">
                <a:solidFill>
                  <a:srgbClr val="17212B"/>
                </a:solidFill>
                <a:latin typeface="Aptos"/>
              </a:rPr>
              <a:t>Model rar: viteză mai bună</a:t>
            </a:r>
          </a:p>
        </p:txBody>
      </p:sp>
      <p:sp>
        <p:nvSpPr>
          <p:cNvPr id="15" name="TextBox 14"/>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Modele locale servite prin llama.cpp</a:t>
            </a:r>
          </a:p>
        </p:txBody>
      </p:sp>
      <p:sp>
        <p:nvSpPr>
          <p:cNvPr id="16" name="TextBox 15"/>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COMPORTAMENT</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Adevărata limită: întrebările ambigue</a:t>
            </a:r>
          </a:p>
        </p:txBody>
      </p:sp>
      <p:sp>
        <p:nvSpPr>
          <p:cNvPr id="4" name="Rounded Rectangle 3"/>
          <p:cNvSpPr/>
          <p:nvPr/>
        </p:nvSpPr>
        <p:spPr>
          <a:xfrm>
            <a:off x="658368" y="1335024"/>
            <a:ext cx="3675887" cy="4526280"/>
          </a:xfrm>
          <a:prstGeom prst="roundRect">
            <a:avLst>
              <a:gd name="adj" fmla="val 3482"/>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4128" y="1719072"/>
            <a:ext cx="914400" cy="310896"/>
          </a:xfrm>
          <a:prstGeom prst="roundRect">
            <a:avLst>
              <a:gd name="adj" fmla="val 50000"/>
            </a:avLst>
          </a:prstGeom>
          <a:solidFill>
            <a:srgbClr val="274A66"/>
          </a:solidFill>
          <a:ln w="12700">
            <a:solidFill>
              <a:srgbClr val="274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728216"/>
            <a:ext cx="914400" cy="256032"/>
          </a:xfrm>
          <a:prstGeom prst="rect">
            <a:avLst/>
          </a:prstGeom>
          <a:noFill/>
        </p:spPr>
        <p:txBody>
          <a:bodyPr wrap="square" lIns="27432" rIns="27432" tIns="27432" bIns="27432" anchor="ctr">
            <a:spAutoFit/>
          </a:bodyPr>
          <a:lstStyle/>
          <a:p>
            <a:pPr algn="ctr"/>
            <a:r>
              <a:rPr sz="1000" b="1" i="0">
                <a:solidFill>
                  <a:srgbClr val="A9D5F5"/>
                </a:solidFill>
                <a:latin typeface="Aptos"/>
              </a:rPr>
              <a:t>EXEMPLU</a:t>
            </a:r>
          </a:p>
        </p:txBody>
      </p:sp>
      <p:sp>
        <p:nvSpPr>
          <p:cNvPr id="7" name="TextBox 6"/>
          <p:cNvSpPr txBox="1"/>
          <p:nvPr/>
        </p:nvSpPr>
        <p:spPr>
          <a:xfrm>
            <a:off x="1024128" y="2331720"/>
            <a:ext cx="2907792" cy="868680"/>
          </a:xfrm>
          <a:prstGeom prst="rect">
            <a:avLst/>
          </a:prstGeom>
          <a:noFill/>
        </p:spPr>
        <p:txBody>
          <a:bodyPr wrap="square" lIns="27432" rIns="27432" tIns="27432" bIns="27432" anchor="t">
            <a:spAutoFit/>
          </a:bodyPr>
          <a:lstStyle/>
          <a:p>
            <a:pPr algn="l"/>
            <a:r>
              <a:rPr sz="2400" b="1" i="0">
                <a:solidFill>
                  <a:srgbClr val="FFFFFF"/>
                </a:solidFill>
                <a:latin typeface="Aptos"/>
              </a:rPr>
              <a:t>„Care sunt cei mai buni clienți?”</a:t>
            </a:r>
          </a:p>
        </p:txBody>
      </p:sp>
      <p:sp>
        <p:nvSpPr>
          <p:cNvPr id="8" name="TextBox 7"/>
          <p:cNvSpPr txBox="1"/>
          <p:nvPr/>
        </p:nvSpPr>
        <p:spPr>
          <a:xfrm>
            <a:off x="1024128" y="3474720"/>
            <a:ext cx="2788920" cy="1170432"/>
          </a:xfrm>
          <a:prstGeom prst="rect">
            <a:avLst/>
          </a:prstGeom>
          <a:noFill/>
        </p:spPr>
        <p:txBody>
          <a:bodyPr wrap="square" lIns="27432" rIns="27432" tIns="27432" bIns="27432" anchor="t">
            <a:spAutoFit/>
          </a:bodyPr>
          <a:lstStyle/>
          <a:p>
            <a:pPr algn="l"/>
            <a:r>
              <a:rPr sz="1500" b="0" i="0">
                <a:solidFill>
                  <a:srgbClr val="C8D7E4"/>
                </a:solidFill>
                <a:latin typeface="Aptos"/>
              </a:rPr>
              <a:t>după venit?
după numărul de rezervări?
după valoarea medie?</a:t>
            </a:r>
          </a:p>
        </p:txBody>
      </p:sp>
      <p:sp>
        <p:nvSpPr>
          <p:cNvPr id="9" name="TextBox 8"/>
          <p:cNvSpPr txBox="1"/>
          <p:nvPr/>
        </p:nvSpPr>
        <p:spPr>
          <a:xfrm>
            <a:off x="1024128" y="5074920"/>
            <a:ext cx="2788920" cy="438912"/>
          </a:xfrm>
          <a:prstGeom prst="rect">
            <a:avLst/>
          </a:prstGeom>
          <a:noFill/>
        </p:spPr>
        <p:txBody>
          <a:bodyPr wrap="square" lIns="27432" rIns="27432" tIns="27432" bIns="27432" anchor="t">
            <a:spAutoFit/>
          </a:bodyPr>
          <a:lstStyle/>
          <a:p>
            <a:pPr algn="l"/>
            <a:r>
              <a:rPr sz="1350" b="1" i="0">
                <a:solidFill>
                  <a:srgbClr val="E1A83B"/>
                </a:solidFill>
                <a:latin typeface="Aptos"/>
              </a:rPr>
              <a:t>Un răspuns sigur începe cu o întrebare.</a:t>
            </a:r>
          </a:p>
        </p:txBody>
      </p:sp>
      <p:sp>
        <p:nvSpPr>
          <p:cNvPr id="10" name="Rounded Rectangle 9"/>
          <p:cNvSpPr/>
          <p:nvPr/>
        </p:nvSpPr>
        <p:spPr>
          <a:xfrm>
            <a:off x="4617720" y="1408176"/>
            <a:ext cx="6903720" cy="4206240"/>
          </a:xfrm>
          <a:prstGeom prst="roundRect">
            <a:avLst>
              <a:gd name="adj" fmla="val 3043"/>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ambiguity.png"/>
          <p:cNvPicPr>
            <a:picLocks noChangeAspect="1"/>
          </p:cNvPicPr>
          <p:nvPr/>
        </p:nvPicPr>
        <p:blipFill>
          <a:blip r:embed="rId2"/>
          <a:stretch>
            <a:fillRect/>
          </a:stretch>
        </p:blipFill>
        <p:spPr>
          <a:xfrm>
            <a:off x="4745736" y="2017879"/>
            <a:ext cx="6647688" cy="2986833"/>
          </a:xfrm>
          <a:prstGeom prst="rect">
            <a:avLst/>
          </a:prstGeom>
        </p:spPr>
      </p:pic>
      <p:sp>
        <p:nvSpPr>
          <p:cNvPr id="12" name="Rounded Rectangle 11"/>
          <p:cNvSpPr/>
          <p:nvPr/>
        </p:nvSpPr>
        <p:spPr>
          <a:xfrm>
            <a:off x="4937760" y="5577840"/>
            <a:ext cx="6272784" cy="621792"/>
          </a:xfrm>
          <a:prstGeom prst="roundRect">
            <a:avLst>
              <a:gd name="adj" fmla="val 20588"/>
            </a:avLst>
          </a:prstGeom>
          <a:solidFill>
            <a:srgbClr val="FAECE9"/>
          </a:solidFill>
          <a:ln w="12700">
            <a:solidFill>
              <a:srgbClr val="FA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8928" y="5577840"/>
            <a:ext cx="5870448" cy="621792"/>
          </a:xfrm>
          <a:prstGeom prst="rect">
            <a:avLst/>
          </a:prstGeom>
          <a:noFill/>
        </p:spPr>
        <p:txBody>
          <a:bodyPr wrap="square" lIns="27432" rIns="27432" tIns="27432" bIns="27432" anchor="ctr">
            <a:spAutoFit/>
          </a:bodyPr>
          <a:lstStyle/>
          <a:p>
            <a:pPr algn="ctr"/>
            <a:r>
              <a:rPr sz="1300" b="1" i="0">
                <a:solidFill>
                  <a:srgbClr val="C1483A"/>
                </a:solidFill>
                <a:latin typeface="Aptos"/>
              </a:rPr>
              <a:t>Apelurile unice au preferat să ghicească; agenții au cerut mai des clarificări.</a:t>
            </a:r>
          </a:p>
        </p:txBody>
      </p:sp>
      <p:sp>
        <p:nvSpPr>
          <p:cNvPr id="14" name="TextBox 13"/>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1F6FB4"/>
                </a:solidFill>
                <a:latin typeface="Aptos"/>
              </a:rPr>
              <a:t>GENERALIZARE</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102A43"/>
                </a:solidFill>
                <a:latin typeface="Aptos"/>
              </a:rPr>
              <a:t>Validare externă: BIRD-SQL</a:t>
            </a:r>
          </a:p>
        </p:txBody>
      </p:sp>
      <p:sp>
        <p:nvSpPr>
          <p:cNvPr id="4" name="TextBox 3"/>
          <p:cNvSpPr txBox="1"/>
          <p:nvPr/>
        </p:nvSpPr>
        <p:spPr>
          <a:xfrm>
            <a:off x="658368" y="1225296"/>
            <a:ext cx="7772400" cy="310896"/>
          </a:xfrm>
          <a:prstGeom prst="rect">
            <a:avLst/>
          </a:prstGeom>
          <a:noFill/>
        </p:spPr>
        <p:txBody>
          <a:bodyPr wrap="square" lIns="27432" rIns="27432" tIns="27432" bIns="27432" anchor="t">
            <a:spAutoFit/>
          </a:bodyPr>
          <a:lstStyle/>
          <a:p>
            <a:pPr algn="l"/>
            <a:r>
              <a:rPr sz="1500" b="1" i="0">
                <a:solidFill>
                  <a:srgbClr val="647487"/>
                </a:solidFill>
                <a:latin typeface="Aptos"/>
              </a:rPr>
              <a:t>1.534 de întrebări · 11 baze de date · set elaborat independent</a:t>
            </a:r>
          </a:p>
        </p:txBody>
      </p:sp>
      <p:sp>
        <p:nvSpPr>
          <p:cNvPr id="5" name="Rounded Rectangle 4"/>
          <p:cNvSpPr/>
          <p:nvPr/>
        </p:nvSpPr>
        <p:spPr>
          <a:xfrm>
            <a:off x="621792" y="1627632"/>
            <a:ext cx="7059168" cy="4370832"/>
          </a:xfrm>
          <a:prstGeom prst="roundRect">
            <a:avLst>
              <a:gd name="adj" fmla="val 2928"/>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aturation.png"/>
          <p:cNvPicPr>
            <a:picLocks noChangeAspect="1"/>
          </p:cNvPicPr>
          <p:nvPr/>
        </p:nvPicPr>
        <p:blipFill>
          <a:blip r:embed="rId2"/>
          <a:stretch>
            <a:fillRect/>
          </a:stretch>
        </p:blipFill>
        <p:spPr>
          <a:xfrm>
            <a:off x="749808" y="2101829"/>
            <a:ext cx="6803136" cy="3422436"/>
          </a:xfrm>
          <a:prstGeom prst="rect">
            <a:avLst/>
          </a:prstGeom>
        </p:spPr>
      </p:pic>
      <p:sp>
        <p:nvSpPr>
          <p:cNvPr id="7" name="Rounded Rectangle 6"/>
          <p:cNvSpPr/>
          <p:nvPr/>
        </p:nvSpPr>
        <p:spPr>
          <a:xfrm>
            <a:off x="7973568" y="1627632"/>
            <a:ext cx="3520440" cy="4370832"/>
          </a:xfrm>
          <a:prstGeom prst="roundRect">
            <a:avLst>
              <a:gd name="adj" fmla="val 3636"/>
            </a:avLst>
          </a:prstGeom>
          <a:solidFill>
            <a:srgbClr val="FFFFFF"/>
          </a:solidFill>
          <a:ln w="1270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975104"/>
            <a:ext cx="2816352" cy="384048"/>
          </a:xfrm>
          <a:prstGeom prst="rect">
            <a:avLst/>
          </a:prstGeom>
          <a:noFill/>
        </p:spPr>
        <p:txBody>
          <a:bodyPr wrap="square" lIns="27432" rIns="27432" tIns="27432" bIns="27432" anchor="t">
            <a:spAutoFit/>
          </a:bodyPr>
          <a:lstStyle/>
          <a:p>
            <a:pPr algn="l"/>
            <a:r>
              <a:rPr sz="1900" b="1" i="0">
                <a:solidFill>
                  <a:srgbClr val="102A43"/>
                </a:solidFill>
                <a:latin typeface="Aptos"/>
              </a:rPr>
              <a:t>Ce confirmă?</a:t>
            </a:r>
          </a:p>
        </p:txBody>
      </p:sp>
      <p:sp>
        <p:nvSpPr>
          <p:cNvPr id="9" name="Oval 8"/>
          <p:cNvSpPr/>
          <p:nvPr/>
        </p:nvSpPr>
        <p:spPr>
          <a:xfrm>
            <a:off x="8321040" y="2633472"/>
            <a:ext cx="182880" cy="182880"/>
          </a:xfrm>
          <a:prstGeom prst="ellipse">
            <a:avLst/>
          </a:prstGeom>
          <a:solidFill>
            <a:srgbClr val="1F6FB4"/>
          </a:solidFill>
          <a:ln w="12700">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2578608"/>
            <a:ext cx="2359152" cy="246888"/>
          </a:xfrm>
          <a:prstGeom prst="rect">
            <a:avLst/>
          </a:prstGeom>
          <a:noFill/>
        </p:spPr>
        <p:txBody>
          <a:bodyPr wrap="square" lIns="27432" rIns="27432" tIns="27432" bIns="27432" anchor="t">
            <a:spAutoFit/>
          </a:bodyPr>
          <a:lstStyle/>
          <a:p>
            <a:pPr algn="l"/>
            <a:r>
              <a:rPr sz="1250" b="1" i="0">
                <a:solidFill>
                  <a:srgbClr val="102A43"/>
                </a:solidFill>
                <a:latin typeface="Aptos"/>
              </a:rPr>
              <a:t>Seturile proprii se saturează</a:t>
            </a:r>
          </a:p>
        </p:txBody>
      </p:sp>
      <p:sp>
        <p:nvSpPr>
          <p:cNvPr id="11" name="TextBox 10"/>
          <p:cNvSpPr txBox="1"/>
          <p:nvPr/>
        </p:nvSpPr>
        <p:spPr>
          <a:xfrm>
            <a:off x="8650224" y="2889504"/>
            <a:ext cx="2359152" cy="420624"/>
          </a:xfrm>
          <a:prstGeom prst="rect">
            <a:avLst/>
          </a:prstGeom>
          <a:noFill/>
        </p:spPr>
        <p:txBody>
          <a:bodyPr wrap="square" lIns="27432" rIns="27432" tIns="27432" bIns="27432" anchor="t">
            <a:spAutoFit/>
          </a:bodyPr>
          <a:lstStyle/>
          <a:p>
            <a:pPr algn="l"/>
            <a:r>
              <a:rPr sz="1050" b="0" i="0">
                <a:solidFill>
                  <a:srgbClr val="647487"/>
                </a:solidFill>
                <a:latin typeface="Aptos"/>
              </a:rPr>
              <a:t>Modelele recente ajung la 100%.</a:t>
            </a:r>
          </a:p>
        </p:txBody>
      </p:sp>
      <p:sp>
        <p:nvSpPr>
          <p:cNvPr id="12" name="Oval 11"/>
          <p:cNvSpPr/>
          <p:nvPr/>
        </p:nvSpPr>
        <p:spPr>
          <a:xfrm>
            <a:off x="8321040" y="3566160"/>
            <a:ext cx="182880" cy="182880"/>
          </a:xfrm>
          <a:prstGeom prst="ellipse">
            <a:avLst/>
          </a:prstGeom>
          <a:solidFill>
            <a:srgbClr val="C1483A"/>
          </a:solidFill>
          <a:ln w="12700">
            <a:solidFill>
              <a:srgbClr val="C1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0224" y="3511296"/>
            <a:ext cx="2359152" cy="246888"/>
          </a:xfrm>
          <a:prstGeom prst="rect">
            <a:avLst/>
          </a:prstGeom>
          <a:noFill/>
        </p:spPr>
        <p:txBody>
          <a:bodyPr wrap="square" lIns="27432" rIns="27432" tIns="27432" bIns="27432" anchor="t">
            <a:spAutoFit/>
          </a:bodyPr>
          <a:lstStyle/>
          <a:p>
            <a:pPr algn="l"/>
            <a:r>
              <a:rPr sz="1250" b="1" i="0">
                <a:solidFill>
                  <a:srgbClr val="102A43"/>
                </a:solidFill>
                <a:latin typeface="Aptos"/>
              </a:rPr>
              <a:t>BIRD rămâne discriminatoriu</a:t>
            </a:r>
          </a:p>
        </p:txBody>
      </p:sp>
      <p:sp>
        <p:nvSpPr>
          <p:cNvPr id="14" name="TextBox 13"/>
          <p:cNvSpPr txBox="1"/>
          <p:nvPr/>
        </p:nvSpPr>
        <p:spPr>
          <a:xfrm>
            <a:off x="8650224" y="3822191"/>
            <a:ext cx="2359152" cy="420624"/>
          </a:xfrm>
          <a:prstGeom prst="rect">
            <a:avLst/>
          </a:prstGeom>
          <a:noFill/>
        </p:spPr>
        <p:txBody>
          <a:bodyPr wrap="square" lIns="27432" rIns="27432" tIns="27432" bIns="27432" anchor="t">
            <a:spAutoFit/>
          </a:bodyPr>
          <a:lstStyle/>
          <a:p>
            <a:pPr algn="l"/>
            <a:r>
              <a:rPr sz="1050" b="0" i="0">
                <a:solidFill>
                  <a:srgbClr val="647487"/>
                </a:solidFill>
                <a:latin typeface="Aptos"/>
              </a:rPr>
              <a:t>Scorurile scad la 55,7–63,6%.</a:t>
            </a:r>
          </a:p>
        </p:txBody>
      </p:sp>
      <p:sp>
        <p:nvSpPr>
          <p:cNvPr id="15" name="Oval 14"/>
          <p:cNvSpPr/>
          <p:nvPr/>
        </p:nvSpPr>
        <p:spPr>
          <a:xfrm>
            <a:off x="8321040" y="4498848"/>
            <a:ext cx="182880" cy="182880"/>
          </a:xfrm>
          <a:prstGeom prst="ellipse">
            <a:avLst/>
          </a:prstGeom>
          <a:solidFill>
            <a:srgbClr val="2E8B57"/>
          </a:solidFill>
          <a:ln w="127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4443984"/>
            <a:ext cx="2359152" cy="246888"/>
          </a:xfrm>
          <a:prstGeom prst="rect">
            <a:avLst/>
          </a:prstGeom>
          <a:noFill/>
        </p:spPr>
        <p:txBody>
          <a:bodyPr wrap="square" lIns="27432" rIns="27432" tIns="27432" bIns="27432" anchor="t">
            <a:spAutoFit/>
          </a:bodyPr>
          <a:lstStyle/>
          <a:p>
            <a:pPr algn="l"/>
            <a:r>
              <a:rPr sz="1250" b="1" i="0">
                <a:solidFill>
                  <a:srgbClr val="102A43"/>
                </a:solidFill>
                <a:latin typeface="Aptos"/>
              </a:rPr>
              <a:t>Ordinea modelelor se poate schimba</a:t>
            </a:r>
          </a:p>
        </p:txBody>
      </p:sp>
      <p:sp>
        <p:nvSpPr>
          <p:cNvPr id="17" name="TextBox 16"/>
          <p:cNvSpPr txBox="1"/>
          <p:nvPr/>
        </p:nvSpPr>
        <p:spPr>
          <a:xfrm>
            <a:off x="8650224" y="4754880"/>
            <a:ext cx="2359152" cy="420624"/>
          </a:xfrm>
          <a:prstGeom prst="rect">
            <a:avLst/>
          </a:prstGeom>
          <a:noFill/>
        </p:spPr>
        <p:txBody>
          <a:bodyPr wrap="square" lIns="27432" rIns="27432" tIns="27432" bIns="27432" anchor="t">
            <a:spAutoFit/>
          </a:bodyPr>
          <a:lstStyle/>
          <a:p>
            <a:pPr algn="l"/>
            <a:r>
              <a:rPr sz="1050" b="0" i="0">
                <a:solidFill>
                  <a:srgbClr val="647487"/>
                </a:solidFill>
                <a:latin typeface="Aptos"/>
              </a:rPr>
              <a:t>Capacitatea declarată nu garantează primul loc.</a:t>
            </a:r>
          </a:p>
        </p:txBody>
      </p:sp>
      <p:sp>
        <p:nvSpPr>
          <p:cNvPr id="18" name="TextBox 17"/>
          <p:cNvSpPr txBox="1"/>
          <p:nvPr/>
        </p:nvSpPr>
        <p:spPr>
          <a:xfrm>
            <a:off x="621792" y="6519672"/>
            <a:ext cx="9875520" cy="164592"/>
          </a:xfrm>
          <a:prstGeom prst="rect">
            <a:avLst/>
          </a:prstGeom>
          <a:noFill/>
        </p:spPr>
        <p:txBody>
          <a:bodyPr wrap="square" lIns="27432" rIns="27432" tIns="27432" bIns="27432" anchor="t">
            <a:spAutoFit/>
          </a:bodyPr>
          <a:lstStyle/>
          <a:p>
            <a:pPr algn="l"/>
            <a:r>
              <a:rPr sz="850" b="0" i="0">
                <a:solidFill>
                  <a:srgbClr val="647487"/>
                </a:solidFill>
                <a:latin typeface="Aptos"/>
              </a:rPr>
              <a:t>BIRD-SQL dev, evaluare pe întregul set</a:t>
            </a:r>
          </a:p>
        </p:txBody>
      </p:sp>
      <p:sp>
        <p:nvSpPr>
          <p:cNvPr id="19" name="TextBox 18"/>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647487"/>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621792" y="347472"/>
            <a:ext cx="4572000" cy="219456"/>
          </a:xfrm>
          <a:prstGeom prst="rect">
            <a:avLst/>
          </a:prstGeom>
          <a:noFill/>
        </p:spPr>
        <p:txBody>
          <a:bodyPr wrap="square" lIns="27432" rIns="27432" tIns="27432" bIns="27432" anchor="t">
            <a:spAutoFit/>
          </a:bodyPr>
          <a:lstStyle/>
          <a:p>
            <a:pPr algn="l"/>
            <a:r>
              <a:rPr sz="1000" b="1" i="0">
                <a:solidFill>
                  <a:srgbClr val="E1A83B"/>
                </a:solidFill>
                <a:latin typeface="Aptos"/>
              </a:rPr>
              <a:t>CE RĂMÂNE DE REȚINUT</a:t>
            </a:r>
          </a:p>
        </p:txBody>
      </p:sp>
      <p:sp>
        <p:nvSpPr>
          <p:cNvPr id="3" name="TextBox 2"/>
          <p:cNvSpPr txBox="1"/>
          <p:nvPr/>
        </p:nvSpPr>
        <p:spPr>
          <a:xfrm>
            <a:off x="621792" y="640080"/>
            <a:ext cx="10789920" cy="868680"/>
          </a:xfrm>
          <a:prstGeom prst="rect">
            <a:avLst/>
          </a:prstGeom>
          <a:noFill/>
        </p:spPr>
        <p:txBody>
          <a:bodyPr wrap="square" lIns="27432" rIns="27432" tIns="27432" bIns="27432" anchor="t">
            <a:spAutoFit/>
          </a:bodyPr>
          <a:lstStyle/>
          <a:p>
            <a:pPr algn="l"/>
            <a:r>
              <a:rPr sz="3000" b="1" i="0">
                <a:solidFill>
                  <a:srgbClr val="FFFFFF"/>
                </a:solidFill>
                <a:latin typeface="Aptos"/>
              </a:rPr>
              <a:t>Concluzii</a:t>
            </a:r>
          </a:p>
        </p:txBody>
      </p:sp>
      <p:sp>
        <p:nvSpPr>
          <p:cNvPr id="4" name="Rounded Rectangle 3"/>
          <p:cNvSpPr/>
          <p:nvPr/>
        </p:nvSpPr>
        <p:spPr>
          <a:xfrm>
            <a:off x="713232" y="1417320"/>
            <a:ext cx="5230368" cy="1572768"/>
          </a:xfrm>
          <a:prstGeom prst="roundRect">
            <a:avLst>
              <a:gd name="adj" fmla="val 8139"/>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1" y="1691640"/>
            <a:ext cx="502920" cy="384048"/>
          </a:xfrm>
          <a:prstGeom prst="rect">
            <a:avLst/>
          </a:prstGeom>
          <a:noFill/>
        </p:spPr>
        <p:txBody>
          <a:bodyPr wrap="square" lIns="27432" rIns="27432" tIns="27432" bIns="27432" anchor="t">
            <a:spAutoFit/>
          </a:bodyPr>
          <a:lstStyle/>
          <a:p>
            <a:pPr algn="l"/>
            <a:r>
              <a:rPr sz="1600" b="1" i="0">
                <a:solidFill>
                  <a:srgbClr val="1F6FB4"/>
                </a:solidFill>
                <a:latin typeface="Aptos"/>
              </a:rPr>
              <a:t>01</a:t>
            </a:r>
          </a:p>
        </p:txBody>
      </p:sp>
      <p:sp>
        <p:nvSpPr>
          <p:cNvPr id="6" name="TextBox 5"/>
          <p:cNvSpPr txBox="1"/>
          <p:nvPr/>
        </p:nvSpPr>
        <p:spPr>
          <a:xfrm>
            <a:off x="1645920" y="1636776"/>
            <a:ext cx="3877056" cy="475488"/>
          </a:xfrm>
          <a:prstGeom prst="rect">
            <a:avLst/>
          </a:prstGeom>
          <a:noFill/>
        </p:spPr>
        <p:txBody>
          <a:bodyPr wrap="square" lIns="27432" rIns="27432" tIns="27432" bIns="27432" anchor="t">
            <a:spAutoFit/>
          </a:bodyPr>
          <a:lstStyle/>
          <a:p>
            <a:pPr algn="l"/>
            <a:r>
              <a:rPr sz="1700" b="1" i="0">
                <a:solidFill>
                  <a:srgbClr val="FFFFFF"/>
                </a:solidFill>
                <a:latin typeface="Aptos"/>
              </a:rPr>
              <a:t>Acces direct la date</a:t>
            </a:r>
          </a:p>
        </p:txBody>
      </p:sp>
      <p:sp>
        <p:nvSpPr>
          <p:cNvPr id="7" name="TextBox 6"/>
          <p:cNvSpPr txBox="1"/>
          <p:nvPr/>
        </p:nvSpPr>
        <p:spPr>
          <a:xfrm>
            <a:off x="1645920" y="2203704"/>
            <a:ext cx="3877056" cy="566928"/>
          </a:xfrm>
          <a:prstGeom prst="rect">
            <a:avLst/>
          </a:prstGeom>
          <a:noFill/>
        </p:spPr>
        <p:txBody>
          <a:bodyPr wrap="square" lIns="27432" rIns="27432" tIns="27432" bIns="27432" anchor="t">
            <a:spAutoFit/>
          </a:bodyPr>
          <a:lstStyle/>
          <a:p>
            <a:pPr algn="l"/>
            <a:r>
              <a:rPr sz="1180" b="0" i="0">
                <a:solidFill>
                  <a:srgbClr val="C8D7E4"/>
                </a:solidFill>
                <a:latin typeface="Aptos"/>
              </a:rPr>
              <a:t>Limbajul natural poate elimina bariera SQL pentru întrebările manageriale de rutină.</a:t>
            </a:r>
          </a:p>
        </p:txBody>
      </p:sp>
      <p:sp>
        <p:nvSpPr>
          <p:cNvPr id="8" name="Rounded Rectangle 7"/>
          <p:cNvSpPr/>
          <p:nvPr/>
        </p:nvSpPr>
        <p:spPr>
          <a:xfrm>
            <a:off x="6382512" y="1417320"/>
            <a:ext cx="5230368" cy="1572768"/>
          </a:xfrm>
          <a:prstGeom prst="roundRect">
            <a:avLst>
              <a:gd name="adj" fmla="val 8139"/>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2552" y="1691640"/>
            <a:ext cx="502920" cy="384048"/>
          </a:xfrm>
          <a:prstGeom prst="rect">
            <a:avLst/>
          </a:prstGeom>
          <a:noFill/>
        </p:spPr>
        <p:txBody>
          <a:bodyPr wrap="square" lIns="27432" rIns="27432" tIns="27432" bIns="27432" anchor="t">
            <a:spAutoFit/>
          </a:bodyPr>
          <a:lstStyle/>
          <a:p>
            <a:pPr algn="l"/>
            <a:r>
              <a:rPr sz="1600" b="1" i="0">
                <a:solidFill>
                  <a:srgbClr val="C1483A"/>
                </a:solidFill>
                <a:latin typeface="Aptos"/>
              </a:rPr>
              <a:t>02</a:t>
            </a:r>
          </a:p>
        </p:txBody>
      </p:sp>
      <p:sp>
        <p:nvSpPr>
          <p:cNvPr id="10" name="TextBox 9"/>
          <p:cNvSpPr txBox="1"/>
          <p:nvPr/>
        </p:nvSpPr>
        <p:spPr>
          <a:xfrm>
            <a:off x="7315200" y="1636776"/>
            <a:ext cx="3877056" cy="475488"/>
          </a:xfrm>
          <a:prstGeom prst="rect">
            <a:avLst/>
          </a:prstGeom>
          <a:noFill/>
        </p:spPr>
        <p:txBody>
          <a:bodyPr wrap="square" lIns="27432" rIns="27432" tIns="27432" bIns="27432" anchor="t">
            <a:spAutoFit/>
          </a:bodyPr>
          <a:lstStyle/>
          <a:p>
            <a:pPr algn="l"/>
            <a:r>
              <a:rPr sz="1700" b="1" i="0">
                <a:solidFill>
                  <a:srgbClr val="FFFFFF"/>
                </a:solidFill>
                <a:latin typeface="Aptos"/>
              </a:rPr>
              <a:t>Simplu poate fi mai bun</a:t>
            </a:r>
          </a:p>
        </p:txBody>
      </p:sp>
      <p:sp>
        <p:nvSpPr>
          <p:cNvPr id="11" name="TextBox 10"/>
          <p:cNvSpPr txBox="1"/>
          <p:nvPr/>
        </p:nvSpPr>
        <p:spPr>
          <a:xfrm>
            <a:off x="7315200" y="2203704"/>
            <a:ext cx="3877056" cy="566928"/>
          </a:xfrm>
          <a:prstGeom prst="rect">
            <a:avLst/>
          </a:prstGeom>
          <a:noFill/>
        </p:spPr>
        <p:txBody>
          <a:bodyPr wrap="square" lIns="27432" rIns="27432" tIns="27432" bIns="27432" anchor="t">
            <a:spAutoFit/>
          </a:bodyPr>
          <a:lstStyle/>
          <a:p>
            <a:pPr algn="l"/>
            <a:r>
              <a:rPr sz="1180" b="0" i="0">
                <a:solidFill>
                  <a:srgbClr val="C8D7E4"/>
                </a:solidFill>
                <a:latin typeface="Aptos"/>
              </a:rPr>
              <a:t>Apelul unic a fost mai exact, mai rapid și mai ieftin decât explorarea agentică.</a:t>
            </a:r>
          </a:p>
        </p:txBody>
      </p:sp>
      <p:sp>
        <p:nvSpPr>
          <p:cNvPr id="12" name="Rounded Rectangle 11"/>
          <p:cNvSpPr/>
          <p:nvPr/>
        </p:nvSpPr>
        <p:spPr>
          <a:xfrm>
            <a:off x="713232" y="3383280"/>
            <a:ext cx="5230368" cy="1572768"/>
          </a:xfrm>
          <a:prstGeom prst="roundRect">
            <a:avLst>
              <a:gd name="adj" fmla="val 8139"/>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3657600"/>
            <a:ext cx="502920" cy="384048"/>
          </a:xfrm>
          <a:prstGeom prst="rect">
            <a:avLst/>
          </a:prstGeom>
          <a:noFill/>
        </p:spPr>
        <p:txBody>
          <a:bodyPr wrap="square" lIns="27432" rIns="27432" tIns="27432" bIns="27432" anchor="t">
            <a:spAutoFit/>
          </a:bodyPr>
          <a:lstStyle/>
          <a:p>
            <a:pPr algn="l"/>
            <a:r>
              <a:rPr sz="1600" b="1" i="0">
                <a:solidFill>
                  <a:srgbClr val="2E8B57"/>
                </a:solidFill>
                <a:latin typeface="Aptos"/>
              </a:rPr>
              <a:t>03</a:t>
            </a:r>
          </a:p>
        </p:txBody>
      </p:sp>
      <p:sp>
        <p:nvSpPr>
          <p:cNvPr id="14" name="TextBox 13"/>
          <p:cNvSpPr txBox="1"/>
          <p:nvPr/>
        </p:nvSpPr>
        <p:spPr>
          <a:xfrm>
            <a:off x="1645920" y="3602736"/>
            <a:ext cx="3877056" cy="475488"/>
          </a:xfrm>
          <a:prstGeom prst="rect">
            <a:avLst/>
          </a:prstGeom>
          <a:noFill/>
        </p:spPr>
        <p:txBody>
          <a:bodyPr wrap="square" lIns="27432" rIns="27432" tIns="27432" bIns="27432" anchor="t">
            <a:spAutoFit/>
          </a:bodyPr>
          <a:lstStyle/>
          <a:p>
            <a:pPr algn="l"/>
            <a:r>
              <a:rPr sz="1700" b="1" i="0">
                <a:solidFill>
                  <a:srgbClr val="FFFFFF"/>
                </a:solidFill>
                <a:latin typeface="Aptos"/>
              </a:rPr>
              <a:t>Rularea locală este viabilă</a:t>
            </a:r>
          </a:p>
        </p:txBody>
      </p:sp>
      <p:sp>
        <p:nvSpPr>
          <p:cNvPr id="15" name="TextBox 14"/>
          <p:cNvSpPr txBox="1"/>
          <p:nvPr/>
        </p:nvSpPr>
        <p:spPr>
          <a:xfrm>
            <a:off x="1645920" y="4169664"/>
            <a:ext cx="3877056" cy="566928"/>
          </a:xfrm>
          <a:prstGeom prst="rect">
            <a:avLst/>
          </a:prstGeom>
          <a:noFill/>
        </p:spPr>
        <p:txBody>
          <a:bodyPr wrap="square" lIns="27432" rIns="27432" tIns="27432" bIns="27432" anchor="t">
            <a:spAutoFit/>
          </a:bodyPr>
          <a:lstStyle/>
          <a:p>
            <a:pPr algn="l"/>
            <a:r>
              <a:rPr sz="1180" b="0" i="0">
                <a:solidFill>
                  <a:srgbClr val="C8D7E4"/>
                </a:solidFill>
                <a:latin typeface="Aptos"/>
              </a:rPr>
              <a:t>Un model MoE pe hardware de consum a ajuns la 93,2% acuratețe.</a:t>
            </a:r>
          </a:p>
        </p:txBody>
      </p:sp>
      <p:sp>
        <p:nvSpPr>
          <p:cNvPr id="16" name="Rounded Rectangle 15"/>
          <p:cNvSpPr/>
          <p:nvPr/>
        </p:nvSpPr>
        <p:spPr>
          <a:xfrm>
            <a:off x="6382512" y="3383280"/>
            <a:ext cx="5230368" cy="1572768"/>
          </a:xfrm>
          <a:prstGeom prst="roundRect">
            <a:avLst>
              <a:gd name="adj" fmla="val 8139"/>
            </a:avLst>
          </a:prstGeom>
          <a:solidFill>
            <a:srgbClr val="173F5F"/>
          </a:solidFill>
          <a:ln w="12700">
            <a:solidFill>
              <a:srgbClr val="3555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2552" y="3657600"/>
            <a:ext cx="502920" cy="384048"/>
          </a:xfrm>
          <a:prstGeom prst="rect">
            <a:avLst/>
          </a:prstGeom>
          <a:noFill/>
        </p:spPr>
        <p:txBody>
          <a:bodyPr wrap="square" lIns="27432" rIns="27432" tIns="27432" bIns="27432" anchor="t">
            <a:spAutoFit/>
          </a:bodyPr>
          <a:lstStyle/>
          <a:p>
            <a:pPr algn="l"/>
            <a:r>
              <a:rPr sz="1600" b="1" i="0">
                <a:solidFill>
                  <a:srgbClr val="E1A83B"/>
                </a:solidFill>
                <a:latin typeface="Aptos"/>
              </a:rPr>
              <a:t>04</a:t>
            </a:r>
          </a:p>
        </p:txBody>
      </p:sp>
      <p:sp>
        <p:nvSpPr>
          <p:cNvPr id="18" name="TextBox 17"/>
          <p:cNvSpPr txBox="1"/>
          <p:nvPr/>
        </p:nvSpPr>
        <p:spPr>
          <a:xfrm>
            <a:off x="7315200" y="3602736"/>
            <a:ext cx="3877056" cy="475488"/>
          </a:xfrm>
          <a:prstGeom prst="rect">
            <a:avLst/>
          </a:prstGeom>
          <a:noFill/>
        </p:spPr>
        <p:txBody>
          <a:bodyPr wrap="square" lIns="27432" rIns="27432" tIns="27432" bIns="27432" anchor="t">
            <a:spAutoFit/>
          </a:bodyPr>
          <a:lstStyle/>
          <a:p>
            <a:pPr algn="l"/>
            <a:r>
              <a:rPr sz="1700" b="1" i="0">
                <a:solidFill>
                  <a:srgbClr val="FFFFFF"/>
                </a:solidFill>
                <a:latin typeface="Aptos"/>
              </a:rPr>
              <a:t>Clarificarea este următoarea frontieră</a:t>
            </a:r>
          </a:p>
        </p:txBody>
      </p:sp>
      <p:sp>
        <p:nvSpPr>
          <p:cNvPr id="19" name="TextBox 18"/>
          <p:cNvSpPr txBox="1"/>
          <p:nvPr/>
        </p:nvSpPr>
        <p:spPr>
          <a:xfrm>
            <a:off x="7315200" y="4169664"/>
            <a:ext cx="3877056" cy="566928"/>
          </a:xfrm>
          <a:prstGeom prst="rect">
            <a:avLst/>
          </a:prstGeom>
          <a:noFill/>
        </p:spPr>
        <p:txBody>
          <a:bodyPr wrap="square" lIns="27432" rIns="27432" tIns="27432" bIns="27432" anchor="t">
            <a:spAutoFit/>
          </a:bodyPr>
          <a:lstStyle/>
          <a:p>
            <a:pPr algn="l"/>
            <a:r>
              <a:rPr sz="1180" b="0" i="0">
                <a:solidFill>
                  <a:srgbClr val="C8D7E4"/>
                </a:solidFill>
                <a:latin typeface="Aptos"/>
              </a:rPr>
              <a:t>Sistemul trebuie să știe când nu există încă o întrebare suficient de precisă.</a:t>
            </a:r>
          </a:p>
        </p:txBody>
      </p:sp>
      <p:sp>
        <p:nvSpPr>
          <p:cNvPr id="20" name="Rounded Rectangle 19"/>
          <p:cNvSpPr/>
          <p:nvPr/>
        </p:nvSpPr>
        <p:spPr>
          <a:xfrm>
            <a:off x="1892807" y="5623560"/>
            <a:ext cx="8412480" cy="603504"/>
          </a:xfrm>
          <a:prstGeom prst="roundRect">
            <a:avLst>
              <a:gd name="adj" fmla="val 21212"/>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48840" y="5779008"/>
            <a:ext cx="7900416" cy="274320"/>
          </a:xfrm>
          <a:prstGeom prst="rect">
            <a:avLst/>
          </a:prstGeom>
          <a:noFill/>
        </p:spPr>
        <p:txBody>
          <a:bodyPr wrap="square" lIns="27432" rIns="27432" tIns="27432" bIns="27432" anchor="t">
            <a:spAutoFit/>
          </a:bodyPr>
          <a:lstStyle/>
          <a:p>
            <a:pPr algn="ctr"/>
            <a:r>
              <a:rPr sz="1700" b="1" i="0">
                <a:solidFill>
                  <a:srgbClr val="102A43"/>
                </a:solidFill>
                <a:latin typeface="Aptos"/>
              </a:rPr>
              <a:t>Un sistem bun nu doar generează SQL — știe și când trebuie să întrebe.</a:t>
            </a:r>
          </a:p>
        </p:txBody>
      </p:sp>
      <p:sp>
        <p:nvSpPr>
          <p:cNvPr id="22" name="TextBox 21"/>
          <p:cNvSpPr txBox="1"/>
          <p:nvPr/>
        </p:nvSpPr>
        <p:spPr>
          <a:xfrm>
            <a:off x="11201400" y="6473952"/>
            <a:ext cx="365760" cy="201168"/>
          </a:xfrm>
          <a:prstGeom prst="rect">
            <a:avLst/>
          </a:prstGeom>
          <a:noFill/>
        </p:spPr>
        <p:txBody>
          <a:bodyPr wrap="square" lIns="27432" rIns="27432" tIns="27432" bIns="27432" anchor="t">
            <a:spAutoFit/>
          </a:bodyPr>
          <a:lstStyle/>
          <a:p>
            <a:pPr algn="r"/>
            <a:r>
              <a:rPr sz="900" b="1" i="0">
                <a:solidFill>
                  <a:srgbClr val="A8B6C4"/>
                </a:solidFill>
                <a:latin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de interogare a bazelor de date prin limbaj natural</dc:title>
  <dc:subject>Prezentare proiect de diplomă</dc:subject>
  <dc:creator>Dodita Alexandru-Tomi</dc:creator>
  <cp:keywords/>
  <dc:description>Generată pe baza lucrării și a rezultatelor experimentale din proiect.</dc:description>
  <cp:lastModifiedBy>Steve Canny</cp:lastModifiedBy>
  <cp:revision>1</cp:revision>
  <dcterms:created xsi:type="dcterms:W3CDTF">2013-01-27T09:14:16Z</dcterms:created>
  <dcterms:modified xsi:type="dcterms:W3CDTF">2013-01-27T09:15:58Z</dcterms:modified>
  <cp:category/>
</cp:coreProperties>
</file>